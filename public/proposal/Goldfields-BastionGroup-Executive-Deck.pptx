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731520"/>
            <a:ext cx="1806854" cy="594360"/>
          </a:xfrm>
          <a:prstGeom prst="rect">
            <a:avLst/>
          </a:prstGeom>
        </p:spPr>
      </p:pic>
      <p:sp>
        <p:nvSpPr>
          <p:cNvPr id="3" name="Rectangle 2"/>
          <p:cNvSpPr/>
          <p:nvPr/>
        </p:nvSpPr>
        <p:spPr>
          <a:xfrm>
            <a:off x="2926080" y="777240"/>
            <a:ext cx="18288" cy="502920"/>
          </a:xfrm>
          <a:prstGeom prst="rect">
            <a:avLst/>
          </a:prstGeom>
          <a:solidFill>
            <a:srgbClr val="C8A0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oldfields-emblem.png"/>
          <p:cNvPicPr>
            <a:picLocks noChangeAspect="1"/>
          </p:cNvPicPr>
          <p:nvPr/>
        </p:nvPicPr>
        <p:blipFill>
          <a:blip r:embed="rId3"/>
          <a:stretch>
            <a:fillRect/>
          </a:stretch>
        </p:blipFill>
        <p:spPr>
          <a:xfrm>
            <a:off x="3154680" y="731520"/>
            <a:ext cx="594360" cy="594360"/>
          </a:xfrm>
          <a:prstGeom prst="rect">
            <a:avLst/>
          </a:prstGeom>
        </p:spPr>
      </p:pic>
      <p:sp>
        <p:nvSpPr>
          <p:cNvPr id="5" name="Rounded Rectangle 4"/>
          <p:cNvSpPr/>
          <p:nvPr/>
        </p:nvSpPr>
        <p:spPr>
          <a:xfrm>
            <a:off x="731520" y="1645920"/>
            <a:ext cx="4389120" cy="347472"/>
          </a:xfrm>
          <a:prstGeom prst="roundRect">
            <a:avLst/>
          </a:prstGeom>
          <a:solidFill>
            <a:srgbClr val="0B3052"/>
          </a:solidFill>
          <a:ln w="12700">
            <a:solidFill>
              <a:srgbClr val="00E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0E5C0"/>
                </a:solidFill>
                <a:latin typeface="Arial"/>
              </a:defRPr>
            </a:pPr>
            <a:r>
              <a:t>CORPORATE COMMUNICATIONS &amp; STAKEHOLDER REPORTING</a:t>
            </a:r>
          </a:p>
        </p:txBody>
      </p:sp>
      <p:sp>
        <p:nvSpPr>
          <p:cNvPr id="6" name="TextBox 5"/>
          <p:cNvSpPr txBox="1"/>
          <p:nvPr/>
        </p:nvSpPr>
        <p:spPr>
          <a:xfrm>
            <a:off x="731520" y="2148840"/>
            <a:ext cx="10728655" cy="1645920"/>
          </a:xfrm>
          <a:prstGeom prst="rect">
            <a:avLst/>
          </a:prstGeom>
          <a:noFill/>
        </p:spPr>
        <p:txBody>
          <a:bodyPr wrap="square" lIns="0" tIns="0" bIns="0" rIns="0">
            <a:spAutoFit/>
          </a:bodyPr>
          <a:lstStyle/>
          <a:p>
            <a:pPr>
              <a:defRPr sz="4000" b="1">
                <a:solidFill>
                  <a:srgbClr val="FFFFFF"/>
                </a:solidFill>
                <a:latin typeface="Georgia"/>
              </a:defRPr>
            </a:pPr>
            <a:r>
              <a:t>Gold Fields Limited</a:t>
            </a:r>
          </a:p>
          <a:p>
            <a:pPr>
              <a:spcBef>
                <a:spcPts val="800"/>
              </a:spcBef>
              <a:defRPr sz="2200" b="1">
                <a:solidFill>
                  <a:srgbClr val="C8A064"/>
                </a:solidFill>
                <a:latin typeface="Arial"/>
              </a:defRPr>
            </a:pPr>
            <a:r>
              <a:t>Next-Generation Digital Flagship &amp; Studio OS Platform</a:t>
            </a:r>
          </a:p>
          <a:p>
            <a:pPr>
              <a:spcBef>
                <a:spcPts val="1000"/>
              </a:spcBef>
              <a:defRPr sz="1200">
                <a:solidFill>
                  <a:srgbClr val="A5B9CD"/>
                </a:solidFill>
                <a:latin typeface="Arial"/>
              </a:defRPr>
            </a:pPr>
            <a:r>
              <a:t>Executive Proposal: Engineering Content Autonomy, Live Operational Telemetry, and Next-Generation Stakeholder Experience across Six Global Mining Jurisdictions.</a:t>
            </a:r>
          </a:p>
        </p:txBody>
      </p:sp>
      <p:sp>
        <p:nvSpPr>
          <p:cNvPr id="7" name="Rounded Rectangle 6"/>
          <p:cNvSpPr/>
          <p:nvPr/>
        </p:nvSpPr>
        <p:spPr>
          <a:xfrm>
            <a:off x="731520" y="4069080"/>
            <a:ext cx="10728655" cy="1691640"/>
          </a:xfrm>
          <a:prstGeom prst="roundRect">
            <a:avLst/>
          </a:prstGeom>
          <a:solidFill>
            <a:srgbClr val="0B3052"/>
          </a:solidFill>
          <a:ln w="1905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206240"/>
            <a:ext cx="10180015" cy="1417320"/>
          </a:xfrm>
          <a:prstGeom prst="rect">
            <a:avLst/>
          </a:prstGeom>
          <a:noFill/>
        </p:spPr>
        <p:txBody>
          <a:bodyPr wrap="square" lIns="0" tIns="0" bIns="0" rIns="0">
            <a:spAutoFit/>
          </a:bodyPr>
          <a:lstStyle/>
          <a:p>
            <a:pPr>
              <a:defRPr sz="950" b="1">
                <a:solidFill>
                  <a:srgbClr val="00E5C0"/>
                </a:solidFill>
                <a:latin typeface="Arial"/>
              </a:defRPr>
            </a:pPr>
            <a:r>
              <a:t>PARTNERSHIP ENGAGEMENT SPECIFICATION</a:t>
            </a:r>
          </a:p>
        </p:txBody>
      </p:sp>
      <p:sp>
        <p:nvSpPr>
          <p:cNvPr id="9" name="TextBox 8"/>
          <p:cNvSpPr txBox="1"/>
          <p:nvPr/>
        </p:nvSpPr>
        <p:spPr>
          <a:xfrm>
            <a:off x="1005840" y="4572000"/>
            <a:ext cx="2286000" cy="1005840"/>
          </a:xfrm>
          <a:prstGeom prst="rect">
            <a:avLst/>
          </a:prstGeom>
          <a:noFill/>
        </p:spPr>
        <p:txBody>
          <a:bodyPr wrap="square" lIns="0" tIns="0" bIns="0" rIns="0">
            <a:spAutoFit/>
          </a:bodyPr>
          <a:lstStyle/>
          <a:p>
            <a:pPr>
              <a:defRPr sz="850" b="1">
                <a:solidFill>
                  <a:srgbClr val="A5B9CD"/>
                </a:solidFill>
                <a:latin typeface="Arial"/>
              </a:defRPr>
            </a:pPr>
            <a:r>
              <a:t>PREPARED BY</a:t>
            </a:r>
          </a:p>
          <a:p>
            <a:pPr>
              <a:spcBef>
                <a:spcPts val="300"/>
              </a:spcBef>
              <a:defRPr sz="1300" b="1">
                <a:solidFill>
                  <a:srgbClr val="FFFFFF"/>
                </a:solidFill>
                <a:latin typeface="Arial"/>
              </a:defRPr>
            </a:pPr>
            <a:r>
              <a:t>BastionGroup</a:t>
            </a:r>
          </a:p>
          <a:p>
            <a:pPr>
              <a:spcBef>
                <a:spcPts val="200"/>
              </a:spcBef>
              <a:defRPr sz="850">
                <a:solidFill>
                  <a:srgbClr val="C8A064"/>
                </a:solidFill>
                <a:latin typeface="Arial"/>
              </a:defRPr>
            </a:pPr>
            <a:r>
              <a:t>bastiongroup.co.za  |  +27 11 778 5800</a:t>
            </a:r>
          </a:p>
        </p:txBody>
      </p:sp>
      <p:sp>
        <p:nvSpPr>
          <p:cNvPr id="10" name="TextBox 9"/>
          <p:cNvSpPr txBox="1"/>
          <p:nvPr/>
        </p:nvSpPr>
        <p:spPr>
          <a:xfrm>
            <a:off x="3474720" y="4572000"/>
            <a:ext cx="2286000" cy="1005840"/>
          </a:xfrm>
          <a:prstGeom prst="rect">
            <a:avLst/>
          </a:prstGeom>
          <a:noFill/>
        </p:spPr>
        <p:txBody>
          <a:bodyPr wrap="square" lIns="0" tIns="0" bIns="0" rIns="0">
            <a:spAutoFit/>
          </a:bodyPr>
          <a:lstStyle/>
          <a:p>
            <a:pPr>
              <a:defRPr sz="850" b="1">
                <a:solidFill>
                  <a:srgbClr val="A5B9CD"/>
                </a:solidFill>
                <a:latin typeface="Arial"/>
              </a:defRPr>
            </a:pPr>
            <a:r>
              <a:t>PRESENTED BY</a:t>
            </a:r>
          </a:p>
          <a:p>
            <a:pPr>
              <a:spcBef>
                <a:spcPts val="300"/>
              </a:spcBef>
              <a:defRPr sz="1300" b="1">
                <a:solidFill>
                  <a:srgbClr val="FFFFFF"/>
                </a:solidFill>
                <a:latin typeface="Arial"/>
              </a:defRPr>
            </a:pPr>
            <a:r>
              <a:t>Benjamin</a:t>
            </a:r>
          </a:p>
          <a:p>
            <a:pPr>
              <a:spcBef>
                <a:spcPts val="200"/>
              </a:spcBef>
              <a:defRPr sz="850">
                <a:solidFill>
                  <a:srgbClr val="C8A064"/>
                </a:solidFill>
                <a:latin typeface="Arial"/>
              </a:defRPr>
            </a:pPr>
            <a:r>
              <a:t>BastionGroup</a:t>
            </a:r>
          </a:p>
        </p:txBody>
      </p:sp>
      <p:sp>
        <p:nvSpPr>
          <p:cNvPr id="11" name="TextBox 10"/>
          <p:cNvSpPr txBox="1"/>
          <p:nvPr/>
        </p:nvSpPr>
        <p:spPr>
          <a:xfrm>
            <a:off x="5943600" y="4572000"/>
            <a:ext cx="2286000" cy="1005840"/>
          </a:xfrm>
          <a:prstGeom prst="rect">
            <a:avLst/>
          </a:prstGeom>
          <a:noFill/>
        </p:spPr>
        <p:txBody>
          <a:bodyPr wrap="square" lIns="0" tIns="0" bIns="0" rIns="0">
            <a:spAutoFit/>
          </a:bodyPr>
          <a:lstStyle/>
          <a:p>
            <a:pPr>
              <a:defRPr sz="850" b="1">
                <a:solidFill>
                  <a:srgbClr val="A5B9CD"/>
                </a:solidFill>
                <a:latin typeface="Arial"/>
              </a:defRPr>
            </a:pPr>
            <a:r>
              <a:t>CLIENT RECIPIENT</a:t>
            </a:r>
          </a:p>
          <a:p>
            <a:pPr>
              <a:spcBef>
                <a:spcPts val="300"/>
              </a:spcBef>
              <a:defRPr sz="1300" b="1">
                <a:solidFill>
                  <a:srgbClr val="FFFFFF"/>
                </a:solidFill>
                <a:latin typeface="Arial"/>
              </a:defRPr>
            </a:pPr>
            <a:r>
              <a:t>Gold Fields Limited</a:t>
            </a:r>
          </a:p>
          <a:p>
            <a:pPr>
              <a:spcBef>
                <a:spcPts val="200"/>
              </a:spcBef>
              <a:defRPr sz="850">
                <a:solidFill>
                  <a:srgbClr val="C8A064"/>
                </a:solidFill>
                <a:latin typeface="Arial"/>
              </a:defRPr>
            </a:pPr>
            <a:r>
              <a:t>Executive Committee &amp; Corporate Affairs</a:t>
            </a:r>
          </a:p>
        </p:txBody>
      </p:sp>
      <p:sp>
        <p:nvSpPr>
          <p:cNvPr id="12" name="TextBox 11"/>
          <p:cNvSpPr txBox="1"/>
          <p:nvPr/>
        </p:nvSpPr>
        <p:spPr>
          <a:xfrm>
            <a:off x="8412480" y="4572000"/>
            <a:ext cx="2286000" cy="1005840"/>
          </a:xfrm>
          <a:prstGeom prst="rect">
            <a:avLst/>
          </a:prstGeom>
          <a:noFill/>
        </p:spPr>
        <p:txBody>
          <a:bodyPr wrap="square" lIns="0" tIns="0" bIns="0" rIns="0">
            <a:spAutoFit/>
          </a:bodyPr>
          <a:lstStyle/>
          <a:p>
            <a:pPr>
              <a:defRPr sz="850" b="1">
                <a:solidFill>
                  <a:srgbClr val="A5B9CD"/>
                </a:solidFill>
                <a:latin typeface="Arial"/>
              </a:defRPr>
            </a:pPr>
            <a:r>
              <a:t>DELIVERY &amp; STATUS</a:t>
            </a:r>
          </a:p>
          <a:p>
            <a:pPr>
              <a:spcBef>
                <a:spcPts val="300"/>
              </a:spcBef>
              <a:defRPr sz="1300" b="1">
                <a:solidFill>
                  <a:srgbClr val="FFFFFF"/>
                </a:solidFill>
                <a:latin typeface="Arial"/>
              </a:defRPr>
            </a:pPr>
            <a:r>
              <a:t>September 2026</a:t>
            </a:r>
          </a:p>
          <a:p>
            <a:pPr>
              <a:spcBef>
                <a:spcPts val="200"/>
              </a:spcBef>
              <a:defRPr sz="850">
                <a:solidFill>
                  <a:srgbClr val="C8A064"/>
                </a:solidFill>
                <a:latin typeface="Arial"/>
              </a:defRPr>
            </a:pPr>
            <a:r>
              <a:t>Live Production Verified (goldfields-bay.vercel.app)</a:t>
            </a:r>
          </a:p>
        </p:txBody>
      </p:sp>
      <p:sp>
        <p:nvSpPr>
          <p:cNvPr id="13" name="TextBox 12"/>
          <p:cNvSpPr txBox="1"/>
          <p:nvPr/>
        </p:nvSpPr>
        <p:spPr>
          <a:xfrm>
            <a:off x="731520" y="6263640"/>
            <a:ext cx="10728655" cy="320040"/>
          </a:xfrm>
          <a:prstGeom prst="rect">
            <a:avLst/>
          </a:prstGeom>
          <a:noFill/>
        </p:spPr>
        <p:txBody>
          <a:bodyPr wrap="none">
            <a:spAutoFit/>
          </a:bodyPr>
          <a:lstStyle/>
          <a:p>
            <a:pPr>
              <a:defRPr sz="850" b="1">
                <a:solidFill>
                  <a:srgbClr val="A5B9CD"/>
                </a:solidFill>
                <a:latin typeface="Arial"/>
              </a:defRPr>
            </a:pPr>
            <a:r>
              <a:t>STRICTLY CONFIDENTIAL  •  BASTION GROUP EXECUTIVE PRESENTATION  •  GOLDFIELDS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STRATEGIC VISION</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Strategic Vision: Real-Time Content Autonomy &amp; Investor Intelligence</a:t>
            </a:r>
          </a:p>
        </p:txBody>
      </p:sp>
      <p:sp>
        <p:nvSpPr>
          <p:cNvPr id="7" name="Rounded Rectangle 6"/>
          <p:cNvSpPr/>
          <p:nvPr/>
        </p:nvSpPr>
        <p:spPr>
          <a:xfrm>
            <a:off x="731520" y="1508760"/>
            <a:ext cx="6217920" cy="4709160"/>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91640"/>
            <a:ext cx="5760720" cy="4343400"/>
          </a:xfrm>
          <a:prstGeom prst="rect">
            <a:avLst/>
          </a:prstGeom>
          <a:noFill/>
        </p:spPr>
        <p:txBody>
          <a:bodyPr wrap="square" lIns="0" tIns="0" bIns="0" rIns="0">
            <a:spAutoFit/>
          </a:bodyPr>
          <a:lstStyle/>
          <a:p>
            <a:pPr>
              <a:defRPr sz="950" b="1">
                <a:solidFill>
                  <a:srgbClr val="00E5C0"/>
                </a:solidFill>
                <a:latin typeface="Arial"/>
              </a:defRPr>
            </a:pPr>
            <a:r>
              <a:t>THE TRANSFORMATION MANDATE</a:t>
            </a:r>
          </a:p>
          <a:p>
            <a:pPr>
              <a:spcBef>
                <a:spcPts val="400"/>
              </a:spcBef>
              <a:defRPr sz="1000">
                <a:solidFill>
                  <a:srgbClr val="FFFFFF"/>
                </a:solidFill>
                <a:latin typeface="Arial"/>
              </a:defRPr>
            </a:pPr>
            <a:r>
              <a:t>Gold Fields Limited operates ten premier mining assets across six sovereign jurisdictions. Yet, corporate communications have historically been throttled by legacy agency turnaround times, static PDF disclosures, and rigid web infrastructure.</a:t>
            </a:r>
          </a:p>
          <a:p>
            <a:pPr>
              <a:spcBef>
                <a:spcPts val="400"/>
              </a:spcBef>
              <a:defRPr sz="1000">
                <a:solidFill>
                  <a:srgbClr val="A5B9CD"/>
                </a:solidFill>
                <a:latin typeface="Arial"/>
              </a:defRPr>
            </a:pPr>
            <a:r>
              <a:t>BastionGroup has engineered an enterprise-grade digital flagship coupled with the proprietary Studio OS Content Management Engine. This platform equips Gold Fields with four transformative capabilities:</a:t>
            </a:r>
          </a:p>
          <a:p>
            <a:pPr>
              <a:spcBef>
                <a:spcPts val="800"/>
              </a:spcBef>
              <a:defRPr sz="1050" b="1">
                <a:solidFill>
                  <a:srgbClr val="C8A064"/>
                </a:solidFill>
                <a:latin typeface="Arial"/>
              </a:defRPr>
            </a:pPr>
            <a:r>
              <a:t>01. Content Autonomy Without Code</a:t>
            </a:r>
          </a:p>
          <a:p>
            <a:pPr>
              <a:spcBef>
                <a:spcPts val="100"/>
              </a:spcBef>
              <a:defRPr sz="900">
                <a:solidFill>
                  <a:srgbClr val="FFFFFF"/>
                </a:solidFill>
                <a:latin typeface="Arial"/>
              </a:defRPr>
            </a:pPr>
            <a:r>
              <a:t>Corporate Affairs, PR, and IR teams can compose, update, and publish modular flagship sections in under 60 seconds with zero developer dependency.</a:t>
            </a:r>
          </a:p>
          <a:p>
            <a:pPr>
              <a:spcBef>
                <a:spcPts val="800"/>
              </a:spcBef>
              <a:defRPr sz="1050" b="1">
                <a:solidFill>
                  <a:srgbClr val="C8A064"/>
                </a:solidFill>
                <a:latin typeface="Arial"/>
              </a:defRPr>
            </a:pPr>
            <a:r>
              <a:t>02. Real-Time Operational &amp; Market Telemetry</a:t>
            </a:r>
          </a:p>
          <a:p>
            <a:pPr>
              <a:spcBef>
                <a:spcPts val="100"/>
              </a:spcBef>
              <a:defRPr sz="900">
                <a:solidFill>
                  <a:srgbClr val="FFFFFF"/>
                </a:solidFill>
                <a:latin typeface="Arial"/>
              </a:defRPr>
            </a:pPr>
            <a:r>
              <a:t>Live stock tracking (JSE &amp; NYSE: GFI), operational cost benchmarks (AISC $1,385/oz), and renewable power metrics (54%) streamed dynamically to stakeholders.</a:t>
            </a:r>
          </a:p>
          <a:p>
            <a:pPr>
              <a:spcBef>
                <a:spcPts val="800"/>
              </a:spcBef>
              <a:defRPr sz="1050" b="1">
                <a:solidFill>
                  <a:srgbClr val="C8A064"/>
                </a:solidFill>
                <a:latin typeface="Arial"/>
              </a:defRPr>
            </a:pPr>
            <a:r>
              <a:t>03. Institutional Capital Markets Experience</a:t>
            </a:r>
          </a:p>
          <a:p>
            <a:pPr>
              <a:spcBef>
                <a:spcPts val="100"/>
              </a:spcBef>
              <a:defRPr sz="900">
                <a:solidFill>
                  <a:srgbClr val="FFFFFF"/>
                </a:solidFill>
                <a:latin typeface="Arial"/>
              </a:defRPr>
            </a:pPr>
            <a:r>
              <a:t>Interactive H1 2026 earnings booklets, automated SENS/SEC regulatory feeds, and an AI Knowledge Copilot providing instant, cited answers to analyst queries.</a:t>
            </a:r>
          </a:p>
          <a:p>
            <a:pPr>
              <a:spcBef>
                <a:spcPts val="800"/>
              </a:spcBef>
              <a:defRPr sz="1050" b="1">
                <a:solidFill>
                  <a:srgbClr val="C8A064"/>
                </a:solidFill>
                <a:latin typeface="Arial"/>
              </a:defRPr>
            </a:pPr>
            <a:r>
              <a:t>04. 2030 ESG Accountability &amp; Geospatial Tracking</a:t>
            </a:r>
          </a:p>
          <a:p>
            <a:pPr>
              <a:spcBef>
                <a:spcPts val="100"/>
              </a:spcBef>
              <a:defRPr sz="900">
                <a:solidFill>
                  <a:srgbClr val="FFFFFF"/>
                </a:solidFill>
                <a:latin typeface="Arial"/>
              </a:defRPr>
            </a:pPr>
            <a:r>
              <a:t>Transparent tracking of all six 2030 ESG targets paired with a photorealistic 3D WebGL Earth Globe mapping all 10 operations.</a:t>
            </a:r>
          </a:p>
        </p:txBody>
      </p:sp>
      <p:sp>
        <p:nvSpPr>
          <p:cNvPr id="9" name="Rounded Rectangle 8"/>
          <p:cNvSpPr/>
          <p:nvPr/>
        </p:nvSpPr>
        <p:spPr>
          <a:xfrm>
            <a:off x="7178040" y="1508760"/>
            <a:ext cx="2029968" cy="1371600"/>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0" y="1618488"/>
            <a:ext cx="1755648" cy="1152144"/>
          </a:xfrm>
          <a:prstGeom prst="rect">
            <a:avLst/>
          </a:prstGeom>
          <a:noFill/>
        </p:spPr>
        <p:txBody>
          <a:bodyPr wrap="square" lIns="0" tIns="0" bIns="0" rIns="0">
            <a:spAutoFit/>
          </a:bodyPr>
          <a:lstStyle/>
          <a:p>
            <a:pPr>
              <a:defRPr sz="2200" b="1">
                <a:solidFill>
                  <a:srgbClr val="00E5C0"/>
                </a:solidFill>
                <a:latin typeface="Georgia"/>
              </a:defRPr>
            </a:pPr>
            <a:r>
              <a:t>&lt; 60s</a:t>
            </a:r>
          </a:p>
          <a:p>
            <a:pPr>
              <a:spcBef>
                <a:spcPts val="200"/>
              </a:spcBef>
              <a:defRPr sz="850" b="1">
                <a:solidFill>
                  <a:srgbClr val="FFFFFF"/>
                </a:solidFill>
                <a:latin typeface="Arial"/>
              </a:defRPr>
            </a:pPr>
            <a:r>
              <a:t>PUBLISHING VELOCITY</a:t>
            </a:r>
          </a:p>
          <a:p>
            <a:pPr>
              <a:spcBef>
                <a:spcPts val="200"/>
              </a:spcBef>
              <a:defRPr sz="750">
                <a:solidFill>
                  <a:srgbClr val="A5B9CD"/>
                </a:solidFill>
                <a:latin typeface="Arial"/>
              </a:defRPr>
            </a:pPr>
            <a:r>
              <a:t>From editorial draft to global edge CDN propagation</a:t>
            </a:r>
          </a:p>
        </p:txBody>
      </p:sp>
      <p:sp>
        <p:nvSpPr>
          <p:cNvPr id="11" name="Rounded Rectangle 10"/>
          <p:cNvSpPr/>
          <p:nvPr/>
        </p:nvSpPr>
        <p:spPr>
          <a:xfrm>
            <a:off x="9400032" y="1508760"/>
            <a:ext cx="2029968" cy="1371600"/>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37192" y="1618488"/>
            <a:ext cx="1755648" cy="1152144"/>
          </a:xfrm>
          <a:prstGeom prst="rect">
            <a:avLst/>
          </a:prstGeom>
          <a:noFill/>
        </p:spPr>
        <p:txBody>
          <a:bodyPr wrap="square" lIns="0" tIns="0" bIns="0" rIns="0">
            <a:spAutoFit/>
          </a:bodyPr>
          <a:lstStyle/>
          <a:p>
            <a:pPr>
              <a:defRPr sz="2200" b="1">
                <a:solidFill>
                  <a:srgbClr val="00E5C0"/>
                </a:solidFill>
                <a:latin typeface="Georgia"/>
              </a:defRPr>
            </a:pPr>
            <a:r>
              <a:t>0.8s</a:t>
            </a:r>
          </a:p>
          <a:p>
            <a:pPr>
              <a:spcBef>
                <a:spcPts val="200"/>
              </a:spcBef>
              <a:defRPr sz="850" b="1">
                <a:solidFill>
                  <a:srgbClr val="FFFFFF"/>
                </a:solidFill>
                <a:latin typeface="Arial"/>
              </a:defRPr>
            </a:pPr>
            <a:r>
              <a:t>GLOBAL PAGE SPEED</a:t>
            </a:r>
          </a:p>
          <a:p>
            <a:pPr>
              <a:spcBef>
                <a:spcPts val="200"/>
              </a:spcBef>
              <a:defRPr sz="750">
                <a:solidFill>
                  <a:srgbClr val="A5B9CD"/>
                </a:solidFill>
                <a:latin typeface="Arial"/>
              </a:defRPr>
            </a:pPr>
            <a:r>
              <a:t>Sub-second LCP benchmark across Johannesburg, London &amp; NY</a:t>
            </a:r>
          </a:p>
        </p:txBody>
      </p:sp>
      <p:sp>
        <p:nvSpPr>
          <p:cNvPr id="13" name="Rounded Rectangle 12"/>
          <p:cNvSpPr/>
          <p:nvPr/>
        </p:nvSpPr>
        <p:spPr>
          <a:xfrm>
            <a:off x="7178040" y="3017520"/>
            <a:ext cx="2029968" cy="1371600"/>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3127248"/>
            <a:ext cx="1755648" cy="1152144"/>
          </a:xfrm>
          <a:prstGeom prst="rect">
            <a:avLst/>
          </a:prstGeom>
          <a:noFill/>
        </p:spPr>
        <p:txBody>
          <a:bodyPr wrap="square" lIns="0" tIns="0" bIns="0" rIns="0">
            <a:spAutoFit/>
          </a:bodyPr>
          <a:lstStyle/>
          <a:p>
            <a:pPr>
              <a:defRPr sz="2200" b="1">
                <a:solidFill>
                  <a:srgbClr val="00E5C0"/>
                </a:solidFill>
                <a:latin typeface="Georgia"/>
              </a:defRPr>
            </a:pPr>
            <a:r>
              <a:t>10 Mines</a:t>
            </a:r>
          </a:p>
          <a:p>
            <a:pPr>
              <a:spcBef>
                <a:spcPts val="200"/>
              </a:spcBef>
              <a:defRPr sz="850" b="1">
                <a:solidFill>
                  <a:srgbClr val="FFFFFF"/>
                </a:solidFill>
                <a:latin typeface="Arial"/>
              </a:defRPr>
            </a:pPr>
            <a:r>
              <a:t>GEOSPATIAL ASSETS</a:t>
            </a:r>
          </a:p>
          <a:p>
            <a:pPr>
              <a:spcBef>
                <a:spcPts val="200"/>
              </a:spcBef>
              <a:defRPr sz="750">
                <a:solidFill>
                  <a:srgbClr val="A5B9CD"/>
                </a:solidFill>
                <a:latin typeface="Arial"/>
              </a:defRPr>
            </a:pPr>
            <a:r>
              <a:t>Interactive 3D WebGL mapping across 6 sovereign nations</a:t>
            </a:r>
          </a:p>
        </p:txBody>
      </p:sp>
      <p:sp>
        <p:nvSpPr>
          <p:cNvPr id="15" name="Rounded Rectangle 14"/>
          <p:cNvSpPr/>
          <p:nvPr/>
        </p:nvSpPr>
        <p:spPr>
          <a:xfrm>
            <a:off x="9400032" y="3017520"/>
            <a:ext cx="2029968" cy="1371600"/>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37192" y="3127248"/>
            <a:ext cx="1755648" cy="1152144"/>
          </a:xfrm>
          <a:prstGeom prst="rect">
            <a:avLst/>
          </a:prstGeom>
          <a:noFill/>
        </p:spPr>
        <p:txBody>
          <a:bodyPr wrap="square" lIns="0" tIns="0" bIns="0" rIns="0">
            <a:spAutoFit/>
          </a:bodyPr>
          <a:lstStyle/>
          <a:p>
            <a:pPr>
              <a:defRPr sz="2200" b="1">
                <a:solidFill>
                  <a:srgbClr val="00E5C0"/>
                </a:solidFill>
                <a:latin typeface="Georgia"/>
              </a:defRPr>
            </a:pPr>
            <a:r>
              <a:t>100%</a:t>
            </a:r>
          </a:p>
          <a:p>
            <a:pPr>
              <a:spcBef>
                <a:spcPts val="200"/>
              </a:spcBef>
              <a:defRPr sz="850" b="1">
                <a:solidFill>
                  <a:srgbClr val="FFFFFF"/>
                </a:solidFill>
                <a:latin typeface="Arial"/>
              </a:defRPr>
            </a:pPr>
            <a:r>
              <a:t>REGULATORY READY</a:t>
            </a:r>
          </a:p>
          <a:p>
            <a:pPr>
              <a:spcBef>
                <a:spcPts val="200"/>
              </a:spcBef>
              <a:defRPr sz="750">
                <a:solidFill>
                  <a:srgbClr val="A5B9CD"/>
                </a:solidFill>
                <a:latin typeface="Arial"/>
              </a:defRPr>
            </a:pPr>
            <a:r>
              <a:t>SENS / SEC compliance with SHA-256 cryptographic audit logs</a:t>
            </a:r>
          </a:p>
        </p:txBody>
      </p:sp>
      <p:sp>
        <p:nvSpPr>
          <p:cNvPr id="17" name="Rounded Rectangle 16"/>
          <p:cNvSpPr/>
          <p:nvPr/>
        </p:nvSpPr>
        <p:spPr>
          <a:xfrm>
            <a:off x="7178040" y="4663440"/>
            <a:ext cx="4279392" cy="1554480"/>
          </a:xfrm>
          <a:prstGeom prst="roundRect">
            <a:avLst/>
          </a:prstGeom>
          <a:solidFill>
            <a:srgbClr val="103A62"/>
          </a:solidFill>
          <a:ln w="12700">
            <a:solidFill>
              <a:srgbClr val="00E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0920" y="4800600"/>
            <a:ext cx="3913632" cy="1280160"/>
          </a:xfrm>
          <a:prstGeom prst="rect">
            <a:avLst/>
          </a:prstGeom>
          <a:noFill/>
        </p:spPr>
        <p:txBody>
          <a:bodyPr wrap="square" lIns="0" tIns="0" bIns="0" rIns="0">
            <a:spAutoFit/>
          </a:bodyPr>
          <a:lstStyle/>
          <a:p>
            <a:pPr>
              <a:defRPr sz="900" b="1">
                <a:solidFill>
                  <a:srgbClr val="C8A064"/>
                </a:solidFill>
                <a:latin typeface="Arial"/>
              </a:defRPr>
            </a:pPr>
            <a:r>
              <a:t>BASTIONGROUP PARTNERSHIP COMMITMENT</a:t>
            </a:r>
          </a:p>
          <a:p>
            <a:pPr>
              <a:spcBef>
                <a:spcPts val="400"/>
              </a:spcBef>
              <a:defRPr sz="900">
                <a:solidFill>
                  <a:srgbClr val="FFFFFF"/>
                </a:solidFill>
                <a:latin typeface="Arial"/>
              </a:defRPr>
            </a:pPr>
            <a:r>
              <a:t>As South Africa's trusted corporate communications and investor reporting provider, BastionGroup considers itself an extension of your executive team. We combine battle-tested JSE blue-chip reporting rigour with bleeding-edge digital engineering.</a:t>
            </a:r>
          </a:p>
        </p:txBody>
      </p:sp>
      <p:sp>
        <p:nvSpPr>
          <p:cNvPr id="19" name="Rectangle 18"/>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21" name="TextBox 20"/>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02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BENCHMARK ANALYSIS</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Comparative Advantage: Legacy Constraints vs. Modernized Flagship</a:t>
            </a:r>
          </a:p>
        </p:txBody>
      </p:sp>
      <p:sp>
        <p:nvSpPr>
          <p:cNvPr id="7" name="Rounded Rectangle 6"/>
          <p:cNvSpPr/>
          <p:nvPr/>
        </p:nvSpPr>
        <p:spPr>
          <a:xfrm>
            <a:off x="731520" y="1508760"/>
            <a:ext cx="10728655" cy="713232"/>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18488"/>
            <a:ext cx="2286000" cy="502920"/>
          </a:xfrm>
          <a:prstGeom prst="rect">
            <a:avLst/>
          </a:prstGeom>
          <a:noFill/>
        </p:spPr>
        <p:txBody>
          <a:bodyPr wrap="square" lIns="0" tIns="0" bIns="0" rIns="0">
            <a:spAutoFit/>
          </a:bodyPr>
          <a:lstStyle/>
          <a:p>
            <a:pPr>
              <a:defRPr sz="1100" b="1">
                <a:solidFill>
                  <a:srgbClr val="00E5C0"/>
                </a:solidFill>
                <a:latin typeface="Arial"/>
              </a:defRPr>
            </a:pPr>
            <a:r>
              <a:t>Content Publishing Cycle</a:t>
            </a:r>
          </a:p>
        </p:txBody>
      </p:sp>
      <p:sp>
        <p:nvSpPr>
          <p:cNvPr id="9" name="TextBox 8"/>
          <p:cNvSpPr txBox="1"/>
          <p:nvPr/>
        </p:nvSpPr>
        <p:spPr>
          <a:xfrm>
            <a:off x="3291840" y="1600200"/>
            <a:ext cx="3566160" cy="530352"/>
          </a:xfrm>
          <a:prstGeom prst="rect">
            <a:avLst/>
          </a:prstGeom>
          <a:noFill/>
        </p:spPr>
        <p:txBody>
          <a:bodyPr wrap="square" lIns="0" tIns="0" bIns="0" rIns="0">
            <a:spAutoFit/>
          </a:bodyPr>
          <a:lstStyle/>
          <a:p>
            <a:pPr>
              <a:defRPr sz="750" b="1">
                <a:solidFill>
                  <a:srgbClr val="DC6464"/>
                </a:solidFill>
                <a:latin typeface="Arial"/>
              </a:defRPr>
            </a:pPr>
            <a:r>
              <a:t>LEGACY OUTSOURCED WEB</a:t>
            </a:r>
          </a:p>
          <a:p>
            <a:pPr>
              <a:spcBef>
                <a:spcPts val="100"/>
              </a:spcBef>
              <a:defRPr sz="850">
                <a:solidFill>
                  <a:srgbClr val="A5B9CD"/>
                </a:solidFill>
                <a:latin typeface="Arial"/>
              </a:defRPr>
            </a:pPr>
            <a:r>
              <a:t>3 to 5 business days via external web agency; high billable retainers and communications friction.</a:t>
            </a:r>
          </a:p>
        </p:txBody>
      </p:sp>
      <p:sp>
        <p:nvSpPr>
          <p:cNvPr id="10" name="Right Arrow 9"/>
          <p:cNvSpPr/>
          <p:nvPr/>
        </p:nvSpPr>
        <p:spPr>
          <a:xfrm>
            <a:off x="6949440" y="1764792"/>
            <a:ext cx="228600" cy="164592"/>
          </a:xfrm>
          <a:prstGeom prst="rightArrow">
            <a:avLst/>
          </a:prstGeom>
          <a:solidFill>
            <a:srgbClr val="00E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0" y="1600200"/>
            <a:ext cx="3931920" cy="530352"/>
          </a:xfrm>
          <a:prstGeom prst="rect">
            <a:avLst/>
          </a:prstGeom>
          <a:noFill/>
        </p:spPr>
        <p:txBody>
          <a:bodyPr wrap="square" lIns="0" tIns="0" bIns="0" rIns="0">
            <a:spAutoFit/>
          </a:bodyPr>
          <a:lstStyle/>
          <a:p>
            <a:pPr>
              <a:defRPr sz="750" b="1">
                <a:solidFill>
                  <a:srgbClr val="00E5C0"/>
                </a:solidFill>
                <a:latin typeface="Arial"/>
              </a:defRPr>
            </a:pPr>
            <a:r>
              <a:t>BASTIONGROUP DIGITAL FLAGSHIP</a:t>
            </a:r>
          </a:p>
          <a:p>
            <a:pPr>
              <a:spcBef>
                <a:spcPts val="100"/>
              </a:spcBef>
              <a:defRPr sz="850">
                <a:solidFill>
                  <a:srgbClr val="FFFFFF"/>
                </a:solidFill>
                <a:latin typeface="Arial"/>
              </a:defRPr>
            </a:pPr>
            <a:r>
              <a:t>&lt; 60 seconds instantaneous publish directly by Corporate Affairs &amp; IR via Studio OS without writing code.</a:t>
            </a:r>
          </a:p>
        </p:txBody>
      </p:sp>
      <p:sp>
        <p:nvSpPr>
          <p:cNvPr id="12" name="Rounded Rectangle 11"/>
          <p:cNvSpPr/>
          <p:nvPr/>
        </p:nvSpPr>
        <p:spPr>
          <a:xfrm>
            <a:off x="731520" y="2286000"/>
            <a:ext cx="10728655" cy="713232"/>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395728"/>
            <a:ext cx="2286000" cy="502920"/>
          </a:xfrm>
          <a:prstGeom prst="rect">
            <a:avLst/>
          </a:prstGeom>
          <a:noFill/>
        </p:spPr>
        <p:txBody>
          <a:bodyPr wrap="square" lIns="0" tIns="0" bIns="0" rIns="0">
            <a:spAutoFit/>
          </a:bodyPr>
          <a:lstStyle/>
          <a:p>
            <a:pPr>
              <a:defRPr sz="1100" b="1">
                <a:solidFill>
                  <a:srgbClr val="00E5C0"/>
                </a:solidFill>
                <a:latin typeface="Arial"/>
              </a:defRPr>
            </a:pPr>
            <a:r>
              <a:t>Performance &amp; Global LCP</a:t>
            </a:r>
          </a:p>
        </p:txBody>
      </p:sp>
      <p:sp>
        <p:nvSpPr>
          <p:cNvPr id="14" name="TextBox 13"/>
          <p:cNvSpPr txBox="1"/>
          <p:nvPr/>
        </p:nvSpPr>
        <p:spPr>
          <a:xfrm>
            <a:off x="3291840" y="2377440"/>
            <a:ext cx="3566160" cy="530352"/>
          </a:xfrm>
          <a:prstGeom prst="rect">
            <a:avLst/>
          </a:prstGeom>
          <a:noFill/>
        </p:spPr>
        <p:txBody>
          <a:bodyPr wrap="square" lIns="0" tIns="0" bIns="0" rIns="0">
            <a:spAutoFit/>
          </a:bodyPr>
          <a:lstStyle/>
          <a:p>
            <a:pPr>
              <a:defRPr sz="750" b="1">
                <a:solidFill>
                  <a:srgbClr val="DC6464"/>
                </a:solidFill>
                <a:latin typeface="Arial"/>
              </a:defRPr>
            </a:pPr>
            <a:r>
              <a:t>LEGACY OUTSOURCED WEB</a:t>
            </a:r>
          </a:p>
          <a:p>
            <a:pPr>
              <a:spcBef>
                <a:spcPts val="100"/>
              </a:spcBef>
              <a:defRPr sz="850">
                <a:solidFill>
                  <a:srgbClr val="A5B9CD"/>
                </a:solidFill>
                <a:latin typeface="Arial"/>
              </a:defRPr>
            </a:pPr>
            <a:r>
              <a:t>4.8s page load speed; monolithic server hosting with frequent crashes during quarterly earnings traffic surges.</a:t>
            </a:r>
          </a:p>
        </p:txBody>
      </p:sp>
      <p:sp>
        <p:nvSpPr>
          <p:cNvPr id="15" name="Right Arrow 14"/>
          <p:cNvSpPr/>
          <p:nvPr/>
        </p:nvSpPr>
        <p:spPr>
          <a:xfrm>
            <a:off x="6949440" y="2542032"/>
            <a:ext cx="228600" cy="164592"/>
          </a:xfrm>
          <a:prstGeom prst="rightArrow">
            <a:avLst/>
          </a:prstGeom>
          <a:solidFill>
            <a:srgbClr val="00E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2377440"/>
            <a:ext cx="3931920" cy="530352"/>
          </a:xfrm>
          <a:prstGeom prst="rect">
            <a:avLst/>
          </a:prstGeom>
          <a:noFill/>
        </p:spPr>
        <p:txBody>
          <a:bodyPr wrap="square" lIns="0" tIns="0" bIns="0" rIns="0">
            <a:spAutoFit/>
          </a:bodyPr>
          <a:lstStyle/>
          <a:p>
            <a:pPr>
              <a:defRPr sz="750" b="1">
                <a:solidFill>
                  <a:srgbClr val="00E5C0"/>
                </a:solidFill>
                <a:latin typeface="Arial"/>
              </a:defRPr>
            </a:pPr>
            <a:r>
              <a:t>BASTIONGROUP DIGITAL FLAGSHIP</a:t>
            </a:r>
          </a:p>
          <a:p>
            <a:pPr>
              <a:spcBef>
                <a:spcPts val="100"/>
              </a:spcBef>
              <a:defRPr sz="850">
                <a:solidFill>
                  <a:srgbClr val="FFFFFF"/>
                </a:solidFill>
                <a:latin typeface="Arial"/>
              </a:defRPr>
            </a:pPr>
            <a:r>
              <a:t>0.8s sub-second response on serverless edge nodes across Johannesburg, London, New York, Perth and Santiago.</a:t>
            </a:r>
          </a:p>
        </p:txBody>
      </p:sp>
      <p:sp>
        <p:nvSpPr>
          <p:cNvPr id="17" name="Rounded Rectangle 16"/>
          <p:cNvSpPr/>
          <p:nvPr/>
        </p:nvSpPr>
        <p:spPr>
          <a:xfrm>
            <a:off x="731520" y="3063240"/>
            <a:ext cx="10728655" cy="713232"/>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172968"/>
            <a:ext cx="2286000" cy="502920"/>
          </a:xfrm>
          <a:prstGeom prst="rect">
            <a:avLst/>
          </a:prstGeom>
          <a:noFill/>
        </p:spPr>
        <p:txBody>
          <a:bodyPr wrap="square" lIns="0" tIns="0" bIns="0" rIns="0">
            <a:spAutoFit/>
          </a:bodyPr>
          <a:lstStyle/>
          <a:p>
            <a:pPr>
              <a:defRPr sz="1100" b="1">
                <a:solidFill>
                  <a:srgbClr val="C8A064"/>
                </a:solidFill>
                <a:latin typeface="Arial"/>
              </a:defRPr>
            </a:pPr>
            <a:r>
              <a:t>Asset &amp; Mine Transparency</a:t>
            </a:r>
          </a:p>
        </p:txBody>
      </p:sp>
      <p:sp>
        <p:nvSpPr>
          <p:cNvPr id="19" name="TextBox 18"/>
          <p:cNvSpPr txBox="1"/>
          <p:nvPr/>
        </p:nvSpPr>
        <p:spPr>
          <a:xfrm>
            <a:off x="3291840" y="3154680"/>
            <a:ext cx="3566160" cy="530352"/>
          </a:xfrm>
          <a:prstGeom prst="rect">
            <a:avLst/>
          </a:prstGeom>
          <a:noFill/>
        </p:spPr>
        <p:txBody>
          <a:bodyPr wrap="square" lIns="0" tIns="0" bIns="0" rIns="0">
            <a:spAutoFit/>
          </a:bodyPr>
          <a:lstStyle/>
          <a:p>
            <a:pPr>
              <a:defRPr sz="750" b="1">
                <a:solidFill>
                  <a:srgbClr val="DC6464"/>
                </a:solidFill>
                <a:latin typeface="Arial"/>
              </a:defRPr>
            </a:pPr>
            <a:r>
              <a:t>LEGACY OUTSOURCED WEB</a:t>
            </a:r>
          </a:p>
          <a:p>
            <a:pPr>
              <a:spcBef>
                <a:spcPts val="100"/>
              </a:spcBef>
              <a:defRPr sz="850">
                <a:solidFill>
                  <a:srgbClr val="A5B9CD"/>
                </a:solidFill>
                <a:latin typeface="Arial"/>
              </a:defRPr>
            </a:pPr>
            <a:r>
              <a:t>Static 2D image maps and PDF downloads with outdated, disconnected annual disclosures.</a:t>
            </a:r>
          </a:p>
        </p:txBody>
      </p:sp>
      <p:sp>
        <p:nvSpPr>
          <p:cNvPr id="20" name="Right Arrow 19"/>
          <p:cNvSpPr/>
          <p:nvPr/>
        </p:nvSpPr>
        <p:spPr>
          <a:xfrm>
            <a:off x="6949440" y="3319272"/>
            <a:ext cx="228600" cy="164592"/>
          </a:xfrm>
          <a:prstGeom prst="rightArrow">
            <a:avLst/>
          </a:prstGeom>
          <a:solidFill>
            <a:srgbClr val="C8A0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3154680"/>
            <a:ext cx="3931920" cy="530352"/>
          </a:xfrm>
          <a:prstGeom prst="rect">
            <a:avLst/>
          </a:prstGeom>
          <a:noFill/>
        </p:spPr>
        <p:txBody>
          <a:bodyPr wrap="square" lIns="0" tIns="0" bIns="0" rIns="0">
            <a:spAutoFit/>
          </a:bodyPr>
          <a:lstStyle/>
          <a:p>
            <a:pPr>
              <a:defRPr sz="750" b="1">
                <a:solidFill>
                  <a:srgbClr val="00E5C0"/>
                </a:solidFill>
                <a:latin typeface="Arial"/>
              </a:defRPr>
            </a:pPr>
            <a:r>
              <a:t>BASTIONGROUP DIGITAL FLAGSHIP</a:t>
            </a:r>
          </a:p>
          <a:p>
            <a:pPr>
              <a:spcBef>
                <a:spcPts val="100"/>
              </a:spcBef>
              <a:defRPr sz="850">
                <a:solidFill>
                  <a:srgbClr val="FFFFFF"/>
                </a:solidFill>
                <a:latin typeface="Arial"/>
              </a:defRPr>
            </a:pPr>
            <a:r>
              <a:t>Interactive 3D WebGL Earth Globe with spatial pins, orbital controls, and live mine telemetry drawers.</a:t>
            </a:r>
          </a:p>
        </p:txBody>
      </p:sp>
      <p:sp>
        <p:nvSpPr>
          <p:cNvPr id="22" name="Rounded Rectangle 21"/>
          <p:cNvSpPr/>
          <p:nvPr/>
        </p:nvSpPr>
        <p:spPr>
          <a:xfrm>
            <a:off x="731520" y="3840480"/>
            <a:ext cx="10728655" cy="713232"/>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3950208"/>
            <a:ext cx="2286000" cy="502920"/>
          </a:xfrm>
          <a:prstGeom prst="rect">
            <a:avLst/>
          </a:prstGeom>
          <a:noFill/>
        </p:spPr>
        <p:txBody>
          <a:bodyPr wrap="square" lIns="0" tIns="0" bIns="0" rIns="0">
            <a:spAutoFit/>
          </a:bodyPr>
          <a:lstStyle/>
          <a:p>
            <a:pPr>
              <a:defRPr sz="1100" b="1">
                <a:solidFill>
                  <a:srgbClr val="1F6E43"/>
                </a:solidFill>
                <a:latin typeface="Arial"/>
              </a:defRPr>
            </a:pPr>
            <a:r>
              <a:t>2030 ESG Disclosures</a:t>
            </a:r>
          </a:p>
        </p:txBody>
      </p:sp>
      <p:sp>
        <p:nvSpPr>
          <p:cNvPr id="24" name="TextBox 23"/>
          <p:cNvSpPr txBox="1"/>
          <p:nvPr/>
        </p:nvSpPr>
        <p:spPr>
          <a:xfrm>
            <a:off x="3291840" y="3931920"/>
            <a:ext cx="3566160" cy="530352"/>
          </a:xfrm>
          <a:prstGeom prst="rect">
            <a:avLst/>
          </a:prstGeom>
          <a:noFill/>
        </p:spPr>
        <p:txBody>
          <a:bodyPr wrap="square" lIns="0" tIns="0" bIns="0" rIns="0">
            <a:spAutoFit/>
          </a:bodyPr>
          <a:lstStyle/>
          <a:p>
            <a:pPr>
              <a:defRPr sz="750" b="1">
                <a:solidFill>
                  <a:srgbClr val="DC6464"/>
                </a:solidFill>
                <a:latin typeface="Arial"/>
              </a:defRPr>
            </a:pPr>
            <a:r>
              <a:t>LEGACY OUTSOURCED WEB</a:t>
            </a:r>
          </a:p>
          <a:p>
            <a:pPr>
              <a:spcBef>
                <a:spcPts val="100"/>
              </a:spcBef>
              <a:defRPr sz="850">
                <a:solidFill>
                  <a:srgbClr val="A5B9CD"/>
                </a:solidFill>
                <a:latin typeface="Arial"/>
              </a:defRPr>
            </a:pPr>
            <a:r>
              <a:t>Buried within dense 200-page sustainability PDF documents; difficult for rating agencies to verify.</a:t>
            </a:r>
          </a:p>
        </p:txBody>
      </p:sp>
      <p:sp>
        <p:nvSpPr>
          <p:cNvPr id="25" name="Right Arrow 24"/>
          <p:cNvSpPr/>
          <p:nvPr/>
        </p:nvSpPr>
        <p:spPr>
          <a:xfrm>
            <a:off x="6949440" y="4096512"/>
            <a:ext cx="228600" cy="164592"/>
          </a:xfrm>
          <a:prstGeom prst="rightArrow">
            <a:avLst/>
          </a:prstGeom>
          <a:solidFill>
            <a:srgbClr val="1F6E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0" y="3931920"/>
            <a:ext cx="3931920" cy="530352"/>
          </a:xfrm>
          <a:prstGeom prst="rect">
            <a:avLst/>
          </a:prstGeom>
          <a:noFill/>
        </p:spPr>
        <p:txBody>
          <a:bodyPr wrap="square" lIns="0" tIns="0" bIns="0" rIns="0">
            <a:spAutoFit/>
          </a:bodyPr>
          <a:lstStyle/>
          <a:p>
            <a:pPr>
              <a:defRPr sz="750" b="1">
                <a:solidFill>
                  <a:srgbClr val="00E5C0"/>
                </a:solidFill>
                <a:latin typeface="Arial"/>
              </a:defRPr>
            </a:pPr>
            <a:r>
              <a:t>BASTIONGROUP DIGITAL FLAGSHIP</a:t>
            </a:r>
          </a:p>
          <a:p>
            <a:pPr>
              <a:spcBef>
                <a:spcPts val="100"/>
              </a:spcBef>
              <a:defRPr sz="850">
                <a:solidFill>
                  <a:srgbClr val="FFFFFF"/>
                </a:solidFill>
                <a:latin typeface="Arial"/>
              </a:defRPr>
            </a:pPr>
            <a:r>
              <a:t>Real-time 2030 ESG Command Center tracking Decarbonization, Khanyisa Solar, and GISTM tailings safety.</a:t>
            </a:r>
          </a:p>
        </p:txBody>
      </p:sp>
      <p:sp>
        <p:nvSpPr>
          <p:cNvPr id="27" name="Rounded Rectangle 26"/>
          <p:cNvSpPr/>
          <p:nvPr/>
        </p:nvSpPr>
        <p:spPr>
          <a:xfrm>
            <a:off x="731520" y="4617720"/>
            <a:ext cx="10728655" cy="713232"/>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4727448"/>
            <a:ext cx="2286000" cy="502920"/>
          </a:xfrm>
          <a:prstGeom prst="rect">
            <a:avLst/>
          </a:prstGeom>
          <a:noFill/>
        </p:spPr>
        <p:txBody>
          <a:bodyPr wrap="square" lIns="0" tIns="0" bIns="0" rIns="0">
            <a:spAutoFit/>
          </a:bodyPr>
          <a:lstStyle/>
          <a:p>
            <a:pPr>
              <a:defRPr sz="1100" b="1">
                <a:solidFill>
                  <a:srgbClr val="00E5C0"/>
                </a:solidFill>
                <a:latin typeface="Arial"/>
              </a:defRPr>
            </a:pPr>
            <a:r>
              <a:t>Stakeholder Search &amp; Q&amp;A</a:t>
            </a:r>
          </a:p>
        </p:txBody>
      </p:sp>
      <p:sp>
        <p:nvSpPr>
          <p:cNvPr id="29" name="TextBox 28"/>
          <p:cNvSpPr txBox="1"/>
          <p:nvPr/>
        </p:nvSpPr>
        <p:spPr>
          <a:xfrm>
            <a:off x="3291840" y="4709160"/>
            <a:ext cx="3566160" cy="530352"/>
          </a:xfrm>
          <a:prstGeom prst="rect">
            <a:avLst/>
          </a:prstGeom>
          <a:noFill/>
        </p:spPr>
        <p:txBody>
          <a:bodyPr wrap="square" lIns="0" tIns="0" bIns="0" rIns="0">
            <a:spAutoFit/>
          </a:bodyPr>
          <a:lstStyle/>
          <a:p>
            <a:pPr>
              <a:defRPr sz="750" b="1">
                <a:solidFill>
                  <a:srgbClr val="DC6464"/>
                </a:solidFill>
                <a:latin typeface="Arial"/>
              </a:defRPr>
            </a:pPr>
            <a:r>
              <a:t>LEGACY OUTSOURCED WEB</a:t>
            </a:r>
          </a:p>
          <a:p>
            <a:pPr>
              <a:spcBef>
                <a:spcPts val="100"/>
              </a:spcBef>
              <a:defRPr sz="850">
                <a:solidFill>
                  <a:srgbClr val="A5B9CD"/>
                </a:solidFill>
                <a:latin typeface="Arial"/>
              </a:defRPr>
            </a:pPr>
            <a:r>
              <a:t>Basic keyword search returning hundreds of unranked links and static PDF attachments.</a:t>
            </a:r>
          </a:p>
        </p:txBody>
      </p:sp>
      <p:sp>
        <p:nvSpPr>
          <p:cNvPr id="30" name="Right Arrow 29"/>
          <p:cNvSpPr/>
          <p:nvPr/>
        </p:nvSpPr>
        <p:spPr>
          <a:xfrm>
            <a:off x="6949440" y="4873752"/>
            <a:ext cx="228600" cy="164592"/>
          </a:xfrm>
          <a:prstGeom prst="rightArrow">
            <a:avLst/>
          </a:prstGeom>
          <a:solidFill>
            <a:srgbClr val="00E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0" y="4709160"/>
            <a:ext cx="3931920" cy="530352"/>
          </a:xfrm>
          <a:prstGeom prst="rect">
            <a:avLst/>
          </a:prstGeom>
          <a:noFill/>
        </p:spPr>
        <p:txBody>
          <a:bodyPr wrap="square" lIns="0" tIns="0" bIns="0" rIns="0">
            <a:spAutoFit/>
          </a:bodyPr>
          <a:lstStyle/>
          <a:p>
            <a:pPr>
              <a:defRPr sz="750" b="1">
                <a:solidFill>
                  <a:srgbClr val="00E5C0"/>
                </a:solidFill>
                <a:latin typeface="Arial"/>
              </a:defRPr>
            </a:pPr>
            <a:r>
              <a:t>BASTIONGROUP DIGITAL FLAGSHIP</a:t>
            </a:r>
          </a:p>
          <a:p>
            <a:pPr>
              <a:spcBef>
                <a:spcPts val="100"/>
              </a:spcBef>
              <a:defRPr sz="850">
                <a:solidFill>
                  <a:srgbClr val="FFFFFF"/>
                </a:solidFill>
                <a:latin typeface="Arial"/>
              </a:defRPr>
            </a:pPr>
            <a:r>
              <a:t>Conversational AI Knowledge Copilot providing instant factual answers with page-level source citations.</a:t>
            </a:r>
          </a:p>
        </p:txBody>
      </p:sp>
      <p:sp>
        <p:nvSpPr>
          <p:cNvPr id="32" name="Rounded Rectangle 31"/>
          <p:cNvSpPr/>
          <p:nvPr/>
        </p:nvSpPr>
        <p:spPr>
          <a:xfrm>
            <a:off x="731520" y="5394960"/>
            <a:ext cx="10728655" cy="713232"/>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400" y="5504688"/>
            <a:ext cx="2286000" cy="502920"/>
          </a:xfrm>
          <a:prstGeom prst="rect">
            <a:avLst/>
          </a:prstGeom>
          <a:noFill/>
        </p:spPr>
        <p:txBody>
          <a:bodyPr wrap="square" lIns="0" tIns="0" bIns="0" rIns="0">
            <a:spAutoFit/>
          </a:bodyPr>
          <a:lstStyle/>
          <a:p>
            <a:pPr>
              <a:defRPr sz="1100" b="1">
                <a:solidFill>
                  <a:srgbClr val="C8A064"/>
                </a:solidFill>
                <a:latin typeface="Arial"/>
              </a:defRPr>
            </a:pPr>
            <a:r>
              <a:t>Mobile &amp; Social Distribution</a:t>
            </a:r>
          </a:p>
        </p:txBody>
      </p:sp>
      <p:sp>
        <p:nvSpPr>
          <p:cNvPr id="34" name="TextBox 33"/>
          <p:cNvSpPr txBox="1"/>
          <p:nvPr/>
        </p:nvSpPr>
        <p:spPr>
          <a:xfrm>
            <a:off x="3291840" y="5486400"/>
            <a:ext cx="3566160" cy="530352"/>
          </a:xfrm>
          <a:prstGeom prst="rect">
            <a:avLst/>
          </a:prstGeom>
          <a:noFill/>
        </p:spPr>
        <p:txBody>
          <a:bodyPr wrap="square" lIns="0" tIns="0" bIns="0" rIns="0">
            <a:spAutoFit/>
          </a:bodyPr>
          <a:lstStyle/>
          <a:p>
            <a:pPr>
              <a:defRPr sz="750" b="1">
                <a:solidFill>
                  <a:srgbClr val="DC6464"/>
                </a:solidFill>
                <a:latin typeface="Arial"/>
              </a:defRPr>
            </a:pPr>
            <a:r>
              <a:t>LEGACY OUTSOURCED WEB</a:t>
            </a:r>
          </a:p>
          <a:p>
            <a:pPr>
              <a:spcBef>
                <a:spcPts val="100"/>
              </a:spcBef>
              <a:defRPr sz="850">
                <a:solidFill>
                  <a:srgbClr val="A5B9CD"/>
                </a:solidFill>
                <a:latin typeface="Arial"/>
              </a:defRPr>
            </a:pPr>
            <a:r>
              <a:t>Desktop-first layouts; unformatted URLs on WhatsApp and LinkedIn without rich preview cards.</a:t>
            </a:r>
          </a:p>
        </p:txBody>
      </p:sp>
      <p:sp>
        <p:nvSpPr>
          <p:cNvPr id="35" name="Right Arrow 34"/>
          <p:cNvSpPr/>
          <p:nvPr/>
        </p:nvSpPr>
        <p:spPr>
          <a:xfrm>
            <a:off x="6949440" y="5650992"/>
            <a:ext cx="228600" cy="164592"/>
          </a:xfrm>
          <a:prstGeom prst="rightArrow">
            <a:avLst/>
          </a:prstGeom>
          <a:solidFill>
            <a:srgbClr val="C8A0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0" y="5486400"/>
            <a:ext cx="3931920" cy="530352"/>
          </a:xfrm>
          <a:prstGeom prst="rect">
            <a:avLst/>
          </a:prstGeom>
          <a:noFill/>
        </p:spPr>
        <p:txBody>
          <a:bodyPr wrap="square" lIns="0" tIns="0" bIns="0" rIns="0">
            <a:spAutoFit/>
          </a:bodyPr>
          <a:lstStyle/>
          <a:p>
            <a:pPr>
              <a:defRPr sz="750" b="1">
                <a:solidFill>
                  <a:srgbClr val="00E5C0"/>
                </a:solidFill>
                <a:latin typeface="Arial"/>
              </a:defRPr>
            </a:pPr>
            <a:r>
              <a:t>BASTIONGROUP DIGITAL FLAGSHIP</a:t>
            </a:r>
          </a:p>
          <a:p>
            <a:pPr>
              <a:spcBef>
                <a:spcPts val="100"/>
              </a:spcBef>
              <a:defRPr sz="850">
                <a:solidFill>
                  <a:srgbClr val="FFFFFF"/>
                </a:solidFill>
                <a:latin typeface="Arial"/>
              </a:defRPr>
            </a:pPr>
            <a:r>
              <a:t>100% fluid mobile responsiveness with automated 1200x630px branded Open Graph sharing cards.</a:t>
            </a:r>
          </a:p>
        </p:txBody>
      </p:sp>
      <p:sp>
        <p:nvSpPr>
          <p:cNvPr id="37" name="Rectangle 36"/>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39" name="TextBox 38"/>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03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FLAGSHIP ARCHITECTURE</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Public Flagship Experience: Cinematic Brand &amp; Live Telemetry</a:t>
            </a:r>
          </a:p>
        </p:txBody>
      </p:sp>
      <p:sp>
        <p:nvSpPr>
          <p:cNvPr id="7" name="Rounded Rectangle 6"/>
          <p:cNvSpPr/>
          <p:nvPr/>
        </p:nvSpPr>
        <p:spPr>
          <a:xfrm>
            <a:off x="731520" y="1508760"/>
            <a:ext cx="5669280" cy="4709160"/>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dia_1790576282836.png"/>
          <p:cNvPicPr>
            <a:picLocks noChangeAspect="1"/>
          </p:cNvPicPr>
          <p:nvPr/>
        </p:nvPicPr>
        <p:blipFill>
          <a:blip r:embed="rId3"/>
          <a:stretch>
            <a:fillRect/>
          </a:stretch>
        </p:blipFill>
        <p:spPr>
          <a:xfrm>
            <a:off x="868680" y="1645920"/>
            <a:ext cx="5394960" cy="3429804"/>
          </a:xfrm>
          <a:prstGeom prst="rect">
            <a:avLst/>
          </a:prstGeom>
        </p:spPr>
      </p:pic>
      <p:sp>
        <p:nvSpPr>
          <p:cNvPr id="9" name="TextBox 8"/>
          <p:cNvSpPr txBox="1"/>
          <p:nvPr/>
        </p:nvSpPr>
        <p:spPr>
          <a:xfrm>
            <a:off x="868680" y="5349240"/>
            <a:ext cx="5394960" cy="731520"/>
          </a:xfrm>
          <a:prstGeom prst="rect">
            <a:avLst/>
          </a:prstGeom>
          <a:noFill/>
        </p:spPr>
        <p:txBody>
          <a:bodyPr wrap="square" lIns="0" tIns="0" bIns="0" rIns="0">
            <a:spAutoFit/>
          </a:bodyPr>
          <a:lstStyle/>
          <a:p>
            <a:pPr>
              <a:defRPr sz="850" b="1">
                <a:solidFill>
                  <a:srgbClr val="00E5C0"/>
                </a:solidFill>
                <a:latin typeface="Arial"/>
              </a:defRPr>
            </a:pPr>
            <a:r>
              <a:t>LIVE PRODUCTION HERO: 'beyond mining.' WITH REAL-TIME TELEMETRY STRIP</a:t>
            </a:r>
          </a:p>
          <a:p>
            <a:pPr>
              <a:defRPr sz="800">
                <a:solidFill>
                  <a:srgbClr val="A5B9CD"/>
                </a:solidFill>
                <a:latin typeface="Arial"/>
              </a:defRPr>
            </a:pPr>
            <a:r>
              <a:t>Showcasing autonomous mining haulage, Khanyisa solar generation, and interactive AI search prompt.</a:t>
            </a:r>
          </a:p>
        </p:txBody>
      </p:sp>
      <p:sp>
        <p:nvSpPr>
          <p:cNvPr id="10" name="Rounded Rectangle 9"/>
          <p:cNvSpPr/>
          <p:nvPr/>
        </p:nvSpPr>
        <p:spPr>
          <a:xfrm>
            <a:off x="6656832" y="1508760"/>
            <a:ext cx="4800600" cy="4709160"/>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03720" y="1691640"/>
            <a:ext cx="4297680" cy="4343400"/>
          </a:xfrm>
          <a:prstGeom prst="rect">
            <a:avLst/>
          </a:prstGeom>
          <a:noFill/>
        </p:spPr>
        <p:txBody>
          <a:bodyPr wrap="square" lIns="0" tIns="0" bIns="0" rIns="0">
            <a:spAutoFit/>
          </a:bodyPr>
          <a:lstStyle/>
          <a:p>
            <a:pPr>
              <a:defRPr sz="950" b="1">
                <a:solidFill>
                  <a:srgbClr val="C8A064"/>
                </a:solidFill>
                <a:latin typeface="Arial"/>
              </a:defRPr>
            </a:pPr>
            <a:r>
              <a:t>FLAGSHIP CAPABILITIES BREAKDOWN</a:t>
            </a:r>
          </a:p>
          <a:p>
            <a:pPr>
              <a:spcBef>
                <a:spcPts val="800"/>
              </a:spcBef>
              <a:defRPr sz="1100" b="1">
                <a:solidFill>
                  <a:srgbClr val="FFFFFF"/>
                </a:solidFill>
                <a:latin typeface="Arial"/>
              </a:defRPr>
            </a:pPr>
            <a:r>
              <a:t>Cinematic Executive Typography</a:t>
            </a:r>
          </a:p>
          <a:p>
            <a:pPr>
              <a:spcBef>
                <a:spcPts val="200"/>
              </a:spcBef>
              <a:defRPr sz="900">
                <a:solidFill>
                  <a:srgbClr val="A5B9CD"/>
                </a:solidFill>
                <a:latin typeface="Arial"/>
              </a:defRPr>
            </a:pPr>
            <a:r>
              <a:t>Pairs the prestigious Playfair Display serif with Plus Jakarta Sans and high-contrast electric turquoise italic styling ('beyond mining.') reflecting modern industrial technology.</a:t>
            </a:r>
          </a:p>
          <a:p>
            <a:pPr>
              <a:spcBef>
                <a:spcPts val="800"/>
              </a:spcBef>
              <a:defRPr sz="1100" b="1">
                <a:solidFill>
                  <a:srgbClr val="FFFFFF"/>
                </a:solidFill>
                <a:latin typeface="Arial"/>
              </a:defRPr>
            </a:pPr>
            <a:r>
              <a:t>Real-Time Telemetry Bar</a:t>
            </a:r>
          </a:p>
          <a:p>
            <a:pPr>
              <a:spcBef>
                <a:spcPts val="200"/>
              </a:spcBef>
              <a:defRPr sz="900">
                <a:solidFill>
                  <a:srgbClr val="A5B9CD"/>
                </a:solidFill>
                <a:latin typeface="Arial"/>
              </a:defRPr>
            </a:pPr>
            <a:r>
              <a:t>Dynamic global ticker displaying JSE &amp; NYSE share price, AISC ($1,385/oz cost profile), 54% renewable energy mix, and 2.30Moz annual gold production index.</a:t>
            </a:r>
          </a:p>
          <a:p>
            <a:pPr>
              <a:spcBef>
                <a:spcPts val="800"/>
              </a:spcBef>
              <a:defRPr sz="1100" b="1">
                <a:solidFill>
                  <a:srgbClr val="FFFFFF"/>
                </a:solidFill>
                <a:latin typeface="Arial"/>
              </a:defRPr>
            </a:pPr>
            <a:r>
              <a:t>One-Touch Stakeholder Routing</a:t>
            </a:r>
          </a:p>
          <a:p>
            <a:pPr>
              <a:spcBef>
                <a:spcPts val="200"/>
              </a:spcBef>
              <a:defRPr sz="900">
                <a:solidFill>
                  <a:srgbClr val="A5B9CD"/>
                </a:solidFill>
                <a:latin typeface="Arial"/>
              </a:defRPr>
            </a:pPr>
            <a:r>
              <a:t>Primary navigation pathways engineered specifically for Institutional Investors, ESG Rating Agencies, Commercial Partners, and Local Mining Communities.</a:t>
            </a:r>
          </a:p>
          <a:p>
            <a:pPr>
              <a:spcBef>
                <a:spcPts val="800"/>
              </a:spcBef>
              <a:defRPr sz="1100" b="1">
                <a:solidFill>
                  <a:srgbClr val="FFFFFF"/>
                </a:solidFill>
                <a:latin typeface="Arial"/>
              </a:defRPr>
            </a:pPr>
            <a:r>
              <a:t>Instant AI Query Trigger</a:t>
            </a:r>
          </a:p>
          <a:p>
            <a:pPr>
              <a:spcBef>
                <a:spcPts val="200"/>
              </a:spcBef>
              <a:defRPr sz="900">
                <a:solidFill>
                  <a:srgbClr val="A5B9CD"/>
                </a:solidFill>
                <a:latin typeface="Arial"/>
              </a:defRPr>
            </a:pPr>
            <a:r>
              <a:t>Built directly into the flagship header, enabling stakeholders to execute complex natural language research across annual filings with zero friction.</a:t>
            </a:r>
          </a:p>
        </p:txBody>
      </p:sp>
      <p:sp>
        <p:nvSpPr>
          <p:cNvPr id="12" name="Rectangle 11"/>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14" name="TextBox 13"/>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04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AI INTELLIGENCE</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AI Knowledge Copilot: Verified Natural Language Intelligence</a:t>
            </a:r>
          </a:p>
        </p:txBody>
      </p:sp>
      <p:sp>
        <p:nvSpPr>
          <p:cNvPr id="7" name="Rounded Rectangle 6"/>
          <p:cNvSpPr/>
          <p:nvPr/>
        </p:nvSpPr>
        <p:spPr>
          <a:xfrm>
            <a:off x="731520" y="1508760"/>
            <a:ext cx="5120640" cy="4709160"/>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91640"/>
            <a:ext cx="4663440" cy="4343400"/>
          </a:xfrm>
          <a:prstGeom prst="rect">
            <a:avLst/>
          </a:prstGeom>
          <a:noFill/>
        </p:spPr>
        <p:txBody>
          <a:bodyPr wrap="square" lIns="0" tIns="0" bIns="0" rIns="0">
            <a:spAutoFit/>
          </a:bodyPr>
          <a:lstStyle/>
          <a:p>
            <a:pPr>
              <a:defRPr sz="950" b="1">
                <a:solidFill>
                  <a:srgbClr val="00E5C0"/>
                </a:solidFill>
                <a:latin typeface="Arial"/>
              </a:defRPr>
            </a:pPr>
            <a:r>
              <a:t>INSTITUTIONAL AI ARCHITECTURE</a:t>
            </a:r>
          </a:p>
          <a:p>
            <a:pPr>
              <a:spcBef>
                <a:spcPts val="800"/>
              </a:spcBef>
              <a:defRPr sz="1100" b="1">
                <a:solidFill>
                  <a:srgbClr val="C8A064"/>
                </a:solidFill>
                <a:latin typeface="Arial"/>
              </a:defRPr>
            </a:pPr>
            <a:r>
              <a:t>Direct Grounding in Primary Filings</a:t>
            </a:r>
          </a:p>
          <a:p>
            <a:pPr>
              <a:spcBef>
                <a:spcPts val="200"/>
              </a:spcBef>
              <a:defRPr sz="900">
                <a:solidFill>
                  <a:srgbClr val="FFFFFF"/>
                </a:solidFill>
                <a:latin typeface="Arial"/>
              </a:defRPr>
            </a:pPr>
            <a:r>
              <a:t>The Copilot does not hallucinate. It is grounded in Gold Fields' Integrated Annual Report, Climate Change Disclosures, and H1 2026 Earnings Booklets.</a:t>
            </a:r>
          </a:p>
          <a:p>
            <a:pPr>
              <a:spcBef>
                <a:spcPts val="800"/>
              </a:spcBef>
              <a:defRPr sz="1100" b="1">
                <a:solidFill>
                  <a:srgbClr val="C8A064"/>
                </a:solidFill>
                <a:latin typeface="Arial"/>
              </a:defRPr>
            </a:pPr>
            <a:r>
              <a:t>Page-Level Verified Citations</a:t>
            </a:r>
          </a:p>
          <a:p>
            <a:pPr>
              <a:spcBef>
                <a:spcPts val="200"/>
              </a:spcBef>
              <a:defRPr sz="900">
                <a:solidFill>
                  <a:srgbClr val="FFFFFF"/>
                </a:solidFill>
                <a:latin typeface="Arial"/>
              </a:defRPr>
            </a:pPr>
            <a:r>
              <a:t>Every response provides direct page number citations with clickable links to the original PDF documents for absolute analyst verification.</a:t>
            </a:r>
          </a:p>
          <a:p>
            <a:pPr>
              <a:spcBef>
                <a:spcPts val="800"/>
              </a:spcBef>
              <a:defRPr sz="1100" b="1">
                <a:solidFill>
                  <a:srgbClr val="C8A064"/>
                </a:solidFill>
                <a:latin typeface="Arial"/>
              </a:defRPr>
            </a:pPr>
            <a:r>
              <a:t>Multi-Jurisdiction Synthesis</a:t>
            </a:r>
          </a:p>
          <a:p>
            <a:pPr>
              <a:spcBef>
                <a:spcPts val="200"/>
              </a:spcBef>
              <a:defRPr sz="900">
                <a:solidFill>
                  <a:srgbClr val="FFFFFF"/>
                </a:solidFill>
                <a:latin typeface="Arial"/>
              </a:defRPr>
            </a:pPr>
            <a:r>
              <a:t>Instantly correlates complex technical metrics across South Africa, Ghana, Australia, Chile, Peru, and Canada in seconds.</a:t>
            </a:r>
          </a:p>
          <a:p>
            <a:pPr>
              <a:spcBef>
                <a:spcPts val="800"/>
              </a:spcBef>
              <a:defRPr sz="1100" b="1">
                <a:solidFill>
                  <a:srgbClr val="C8A064"/>
                </a:solidFill>
                <a:latin typeface="Arial"/>
              </a:defRPr>
            </a:pPr>
            <a:r>
              <a:t>24/7 Capital Markets Readiness</a:t>
            </a:r>
          </a:p>
          <a:p>
            <a:pPr>
              <a:spcBef>
                <a:spcPts val="200"/>
              </a:spcBef>
              <a:defRPr sz="900">
                <a:solidFill>
                  <a:srgbClr val="FFFFFF"/>
                </a:solidFill>
                <a:latin typeface="Arial"/>
              </a:defRPr>
            </a:pPr>
            <a:r>
              <a:t>Provides institutional fund managers in New York, London, and Johannesburg with immediate answers during after-hours market inquiries.</a:t>
            </a:r>
          </a:p>
        </p:txBody>
      </p:sp>
      <p:sp>
        <p:nvSpPr>
          <p:cNvPr id="9" name="Rounded Rectangle 8"/>
          <p:cNvSpPr/>
          <p:nvPr/>
        </p:nvSpPr>
        <p:spPr>
          <a:xfrm>
            <a:off x="6108192" y="1508760"/>
            <a:ext cx="5349240" cy="4709160"/>
          </a:xfrm>
          <a:prstGeom prst="roundRect">
            <a:avLst/>
          </a:prstGeom>
          <a:solidFill>
            <a:srgbClr val="103A62"/>
          </a:solidFill>
          <a:ln w="19050">
            <a:solidFill>
              <a:srgbClr val="00E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691640"/>
            <a:ext cx="4846320" cy="4343400"/>
          </a:xfrm>
          <a:prstGeom prst="rect">
            <a:avLst/>
          </a:prstGeom>
          <a:noFill/>
        </p:spPr>
        <p:txBody>
          <a:bodyPr wrap="square" lIns="0" tIns="0" bIns="0" rIns="0">
            <a:spAutoFit/>
          </a:bodyPr>
          <a:lstStyle/>
          <a:p>
            <a:pPr>
              <a:defRPr sz="950" b="1">
                <a:solidFill>
                  <a:srgbClr val="C8A064"/>
                </a:solidFill>
                <a:latin typeface="Arial"/>
              </a:defRPr>
            </a:pPr>
            <a:r>
              <a:t>COPILOT INTERACTION SIMULATION</a:t>
            </a:r>
          </a:p>
          <a:p>
            <a:pPr>
              <a:spcBef>
                <a:spcPts val="800"/>
              </a:spcBef>
              <a:defRPr sz="900" b="1">
                <a:solidFill>
                  <a:srgbClr val="00E5C0"/>
                </a:solidFill>
                <a:latin typeface="Arial"/>
              </a:defRPr>
            </a:pPr>
            <a:r>
              <a:t>Investor Query:</a:t>
            </a:r>
          </a:p>
          <a:p>
            <a:pPr>
              <a:spcBef>
                <a:spcPts val="200"/>
              </a:spcBef>
              <a:defRPr sz="1100" i="1">
                <a:solidFill>
                  <a:srgbClr val="FFFFFF"/>
                </a:solidFill>
                <a:latin typeface="Georgia"/>
              </a:defRPr>
            </a:pPr>
            <a:r>
              <a:t>"What is Gold Fields' progress on 2030 decarbonization and what is South Deep's solar plant contribution?"</a:t>
            </a:r>
          </a:p>
          <a:p>
            <a:pPr>
              <a:spcBef>
                <a:spcPts val="1200"/>
              </a:spcBef>
              <a:defRPr sz="900" b="1">
                <a:solidFill>
                  <a:srgbClr val="C8A064"/>
                </a:solidFill>
                <a:latin typeface="Arial"/>
              </a:defRPr>
            </a:pPr>
            <a:r>
              <a:t>Copilot Verified Response:</a:t>
            </a:r>
          </a:p>
          <a:p>
            <a:pPr>
              <a:spcBef>
                <a:spcPts val="400"/>
              </a:spcBef>
              <a:defRPr sz="900">
                <a:solidFill>
                  <a:srgbClr val="FFFFFF"/>
                </a:solidFill>
                <a:latin typeface="Arial"/>
              </a:defRPr>
            </a:pPr>
            <a:r>
              <a:t>1. Decarbonization Roadmap: Gold Fields is tracking toward a 30% absolute reduction in Scope 1 &amp; 2 emissions by 2030 (from 2016 baseline) and net-zero by 2050.</a:t>
            </a:r>
            <a:br/>
            <a:br/>
            <a:r>
              <a:t>2. Khanyisa Solar Plant: South Deep's 50MW solar facility generates ~100GWh/year, supplying 24% of the mine's annual electricity and offsetting 110,000 tonnes of CO2e annually.</a:t>
            </a:r>
            <a:br/>
            <a:br/>
            <a:r>
              <a:t>3. Australian Microgrids: Agnew (hybrid wind/solar/battery) and Granny Smith solar microgrids pushed group renewable electricity generation to 54% in H1 2026.</a:t>
            </a:r>
          </a:p>
          <a:p>
            <a:pPr>
              <a:spcBef>
                <a:spcPts val="1000"/>
              </a:spcBef>
              <a:defRPr sz="800" b="1">
                <a:solidFill>
                  <a:srgbClr val="00E5C0"/>
                </a:solidFill>
                <a:latin typeface="Arial"/>
              </a:defRPr>
            </a:pPr>
            <a:r>
              <a:t>Verified Citations: [Climate Change Report 2025, pp. 24-28] • [H1 2026 Disclosures, p. 12] • [South Deep Technical Bulletin 2026]</a:t>
            </a:r>
          </a:p>
        </p:txBody>
      </p:sp>
      <p:sp>
        <p:nvSpPr>
          <p:cNvPr id="11" name="Rectangle 10"/>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13" name="TextBox 12"/>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05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3D OPERATIONS GLOBE</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Geospatial Operations: Interactive 3D WebGL Real-Earth Globe</a:t>
            </a:r>
          </a:p>
        </p:txBody>
      </p:sp>
      <p:sp>
        <p:nvSpPr>
          <p:cNvPr id="7" name="Rounded Rectangle 6"/>
          <p:cNvSpPr/>
          <p:nvPr/>
        </p:nvSpPr>
        <p:spPr>
          <a:xfrm>
            <a:off x="731520" y="1508760"/>
            <a:ext cx="5669280" cy="4709160"/>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dia_1790528693970.png"/>
          <p:cNvPicPr>
            <a:picLocks noChangeAspect="1"/>
          </p:cNvPicPr>
          <p:nvPr/>
        </p:nvPicPr>
        <p:blipFill>
          <a:blip r:embed="rId3"/>
          <a:stretch>
            <a:fillRect/>
          </a:stretch>
        </p:blipFill>
        <p:spPr>
          <a:xfrm>
            <a:off x="868680" y="1645920"/>
            <a:ext cx="5394960" cy="2470934"/>
          </a:xfrm>
          <a:prstGeom prst="rect">
            <a:avLst/>
          </a:prstGeom>
        </p:spPr>
      </p:pic>
      <p:sp>
        <p:nvSpPr>
          <p:cNvPr id="9" name="TextBox 8"/>
          <p:cNvSpPr txBox="1"/>
          <p:nvPr/>
        </p:nvSpPr>
        <p:spPr>
          <a:xfrm>
            <a:off x="868680" y="5349240"/>
            <a:ext cx="5394960" cy="731520"/>
          </a:xfrm>
          <a:prstGeom prst="rect">
            <a:avLst/>
          </a:prstGeom>
          <a:noFill/>
        </p:spPr>
        <p:txBody>
          <a:bodyPr wrap="square" lIns="0" tIns="0" bIns="0" rIns="0">
            <a:spAutoFit/>
          </a:bodyPr>
          <a:lstStyle/>
          <a:p>
            <a:pPr>
              <a:defRPr sz="850" b="1">
                <a:solidFill>
                  <a:srgbClr val="00E5C0"/>
                </a:solidFill>
                <a:latin typeface="Arial"/>
              </a:defRPr>
            </a:pPr>
            <a:r>
              <a:t>REAL EARTH THREE.JS ORBITAL VISUALIZER (SOUTH DEEP PINNED)</a:t>
            </a:r>
          </a:p>
          <a:p>
            <a:pPr>
              <a:defRPr sz="800">
                <a:solidFill>
                  <a:srgbClr val="A5B9CD"/>
                </a:solidFill>
                <a:latin typeface="Arial"/>
              </a:defRPr>
            </a:pPr>
            <a:r>
              <a:t>Orbital rotation, touch &amp; drag interaction, and telemetry drawer mapping across all 10 mining assets.</a:t>
            </a:r>
          </a:p>
        </p:txBody>
      </p:sp>
      <p:sp>
        <p:nvSpPr>
          <p:cNvPr id="10" name="Rounded Rectangle 9"/>
          <p:cNvSpPr/>
          <p:nvPr/>
        </p:nvSpPr>
        <p:spPr>
          <a:xfrm>
            <a:off x="6656832" y="1508760"/>
            <a:ext cx="4800600" cy="4709160"/>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03720" y="1691640"/>
            <a:ext cx="4297680" cy="4343400"/>
          </a:xfrm>
          <a:prstGeom prst="rect">
            <a:avLst/>
          </a:prstGeom>
          <a:noFill/>
        </p:spPr>
        <p:txBody>
          <a:bodyPr wrap="square" lIns="0" tIns="0" bIns="0" rIns="0">
            <a:spAutoFit/>
          </a:bodyPr>
          <a:lstStyle/>
          <a:p>
            <a:pPr>
              <a:defRPr sz="950" b="1">
                <a:solidFill>
                  <a:srgbClr val="C8A064"/>
                </a:solidFill>
                <a:latin typeface="Arial"/>
              </a:defRPr>
            </a:pPr>
            <a:r>
              <a:t>PORTFOLIO VISUALIZATION MATRIX</a:t>
            </a:r>
          </a:p>
          <a:p>
            <a:pPr>
              <a:spcBef>
                <a:spcPts val="400"/>
              </a:spcBef>
              <a:defRPr sz="950" b="1">
                <a:solidFill>
                  <a:srgbClr val="FFFFFF"/>
                </a:solidFill>
                <a:latin typeface="Arial"/>
              </a:defRPr>
            </a:pPr>
            <a:r>
              <a:t>South Africa (South Deep)</a:t>
            </a:r>
          </a:p>
          <a:p>
            <a:pPr>
              <a:spcBef>
                <a:spcPts val="100"/>
              </a:spcBef>
              <a:defRPr sz="800">
                <a:solidFill>
                  <a:srgbClr val="A5B9CD"/>
                </a:solidFill>
                <a:latin typeface="Arial"/>
              </a:defRPr>
            </a:pPr>
            <a:r>
              <a:t>World-class bulk mechanized underground operation in Gauteng; powered by the 50MW Khanyisa solar plant with 70+ year reserve life.</a:t>
            </a:r>
          </a:p>
          <a:p>
            <a:pPr>
              <a:spcBef>
                <a:spcPts val="400"/>
              </a:spcBef>
              <a:defRPr sz="950" b="1">
                <a:solidFill>
                  <a:srgbClr val="FFFFFF"/>
                </a:solidFill>
                <a:latin typeface="Arial"/>
              </a:defRPr>
            </a:pPr>
            <a:r>
              <a:t>Ghana (Tarkwa &amp; Damang)</a:t>
            </a:r>
          </a:p>
          <a:p>
            <a:pPr>
              <a:spcBef>
                <a:spcPts val="100"/>
              </a:spcBef>
              <a:defRPr sz="800">
                <a:solidFill>
                  <a:srgbClr val="A5B9CD"/>
                </a:solidFill>
                <a:latin typeface="Arial"/>
              </a:defRPr>
            </a:pPr>
            <a:r>
              <a:t>Cornerstone West African open-pit production hubs delivering steady cash flows and high recovery rates in the Western Region.</a:t>
            </a:r>
          </a:p>
          <a:p>
            <a:pPr>
              <a:spcBef>
                <a:spcPts val="400"/>
              </a:spcBef>
              <a:defRPr sz="950" b="1">
                <a:solidFill>
                  <a:srgbClr val="FFFFFF"/>
                </a:solidFill>
                <a:latin typeface="Arial"/>
              </a:defRPr>
            </a:pPr>
            <a:r>
              <a:t>Australia (St Ives, Granny Smith, Agnew, Gruyere)</a:t>
            </a:r>
          </a:p>
          <a:p>
            <a:pPr>
              <a:spcBef>
                <a:spcPts val="100"/>
              </a:spcBef>
              <a:defRPr sz="800">
                <a:solidFill>
                  <a:srgbClr val="A5B9CD"/>
                </a:solidFill>
                <a:latin typeface="Arial"/>
              </a:defRPr>
            </a:pPr>
            <a:r>
              <a:t>World benchmark in renewable mining; Agnew hybrid microgrid delivers &gt;50% renewable electricity with cutting-edge wind and battery storage.</a:t>
            </a:r>
          </a:p>
          <a:p>
            <a:pPr>
              <a:spcBef>
                <a:spcPts val="400"/>
              </a:spcBef>
              <a:defRPr sz="950" b="1">
                <a:solidFill>
                  <a:srgbClr val="FFFFFF"/>
                </a:solidFill>
                <a:latin typeface="Arial"/>
              </a:defRPr>
            </a:pPr>
            <a:r>
              <a:t>Chile (Salares Norte)</a:t>
            </a:r>
          </a:p>
          <a:p>
            <a:pPr>
              <a:spcBef>
                <a:spcPts val="100"/>
              </a:spcBef>
              <a:defRPr sz="800">
                <a:solidFill>
                  <a:srgbClr val="A5B9CD"/>
                </a:solidFill>
                <a:latin typeface="Arial"/>
              </a:defRPr>
            </a:pPr>
            <a:r>
              <a:t>High-altitude Atacama open-pit operation featuring pioneering environmental stewardship and Chinchilla preservation.</a:t>
            </a:r>
          </a:p>
          <a:p>
            <a:pPr>
              <a:spcBef>
                <a:spcPts val="400"/>
              </a:spcBef>
              <a:defRPr sz="950" b="1">
                <a:solidFill>
                  <a:srgbClr val="FFFFFF"/>
                </a:solidFill>
                <a:latin typeface="Arial"/>
              </a:defRPr>
            </a:pPr>
            <a:r>
              <a:t>Peru (Cerro Corona)</a:t>
            </a:r>
          </a:p>
          <a:p>
            <a:pPr>
              <a:spcBef>
                <a:spcPts val="100"/>
              </a:spcBef>
              <a:defRPr sz="800">
                <a:solidFill>
                  <a:srgbClr val="A5B9CD"/>
                </a:solidFill>
                <a:latin typeface="Arial"/>
              </a:defRPr>
            </a:pPr>
            <a:r>
              <a:t>Copper-gold porphyry operation delivering long-term socio-economic value in the Cajamarca province.</a:t>
            </a:r>
          </a:p>
          <a:p>
            <a:pPr>
              <a:spcBef>
                <a:spcPts val="400"/>
              </a:spcBef>
              <a:defRPr sz="950" b="1">
                <a:solidFill>
                  <a:srgbClr val="FFFFFF"/>
                </a:solidFill>
                <a:latin typeface="Arial"/>
              </a:defRPr>
            </a:pPr>
            <a:r>
              <a:t>Canada (Windfall Joint Venture)</a:t>
            </a:r>
          </a:p>
          <a:p>
            <a:pPr>
              <a:spcBef>
                <a:spcPts val="100"/>
              </a:spcBef>
              <a:defRPr sz="800">
                <a:solidFill>
                  <a:srgbClr val="A5B9CD"/>
                </a:solidFill>
                <a:latin typeface="Arial"/>
              </a:defRPr>
            </a:pPr>
            <a:r>
              <a:t>High-grade underground Canadian development asset expanding Gold Fields' jurisdictional footprint in the Americas.</a:t>
            </a:r>
          </a:p>
        </p:txBody>
      </p:sp>
      <p:sp>
        <p:nvSpPr>
          <p:cNvPr id="12" name="Rectangle 11"/>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14" name="TextBox 13"/>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06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ESG COMMAND CENTER</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2030 ESG Tracking Command: Transparent Sustainability &amp; Decarbonization</a:t>
            </a:r>
          </a:p>
        </p:txBody>
      </p:sp>
      <p:sp>
        <p:nvSpPr>
          <p:cNvPr id="7" name="Rounded Rectangle 6"/>
          <p:cNvSpPr/>
          <p:nvPr/>
        </p:nvSpPr>
        <p:spPr>
          <a:xfrm>
            <a:off x="731520" y="1508760"/>
            <a:ext cx="5120640" cy="4709160"/>
          </a:xfrm>
          <a:prstGeom prst="roundRect">
            <a:avLst/>
          </a:prstGeom>
          <a:solidFill>
            <a:srgbClr val="0B3052"/>
          </a:solidFill>
          <a:ln w="12700">
            <a:solidFill>
              <a:srgbClr val="1F6E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dia_1790571551705.png"/>
          <p:cNvPicPr>
            <a:picLocks noChangeAspect="1"/>
          </p:cNvPicPr>
          <p:nvPr/>
        </p:nvPicPr>
        <p:blipFill>
          <a:blip r:embed="rId3"/>
          <a:stretch>
            <a:fillRect/>
          </a:stretch>
        </p:blipFill>
        <p:spPr>
          <a:xfrm>
            <a:off x="868680" y="1645920"/>
            <a:ext cx="4846320" cy="2205454"/>
          </a:xfrm>
          <a:prstGeom prst="rect">
            <a:avLst/>
          </a:prstGeom>
        </p:spPr>
      </p:pic>
      <p:sp>
        <p:nvSpPr>
          <p:cNvPr id="9" name="TextBox 8"/>
          <p:cNvSpPr txBox="1"/>
          <p:nvPr/>
        </p:nvSpPr>
        <p:spPr>
          <a:xfrm>
            <a:off x="868680" y="5029200"/>
            <a:ext cx="4846320" cy="1005840"/>
          </a:xfrm>
          <a:prstGeom prst="rect">
            <a:avLst/>
          </a:prstGeom>
          <a:noFill/>
        </p:spPr>
        <p:txBody>
          <a:bodyPr wrap="square" lIns="0" tIns="0" bIns="0" rIns="0">
            <a:spAutoFit/>
          </a:bodyPr>
          <a:lstStyle/>
          <a:p>
            <a:pPr>
              <a:defRPr sz="850" b="1">
                <a:solidFill>
                  <a:srgbClr val="00E5C0"/>
                </a:solidFill>
                <a:latin typeface="Arial"/>
              </a:defRPr>
            </a:pPr>
            <a:r>
              <a:t>SUSTAINABLE EXTRACTION &amp; ENERGY TRANSITION</a:t>
            </a:r>
          </a:p>
          <a:p>
            <a:pPr>
              <a:defRPr sz="800">
                <a:solidFill>
                  <a:srgbClr val="A5B9CD"/>
                </a:solidFill>
                <a:latin typeface="Arial"/>
              </a:defRPr>
            </a:pPr>
            <a:r>
              <a:t>Integrating 50MW Khanyisa solar plant, electric haulage trials, and 100% GISTM tailings dam compliance into public stakeholder telemetry.</a:t>
            </a:r>
          </a:p>
        </p:txBody>
      </p:sp>
      <p:sp>
        <p:nvSpPr>
          <p:cNvPr id="10" name="Rounded Rectangle 9"/>
          <p:cNvSpPr/>
          <p:nvPr/>
        </p:nvSpPr>
        <p:spPr>
          <a:xfrm>
            <a:off x="6108192" y="1508760"/>
            <a:ext cx="5349240" cy="4709160"/>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91640"/>
            <a:ext cx="4846320" cy="4343400"/>
          </a:xfrm>
          <a:prstGeom prst="rect">
            <a:avLst/>
          </a:prstGeom>
          <a:noFill/>
        </p:spPr>
        <p:txBody>
          <a:bodyPr wrap="square" lIns="0" tIns="0" bIns="0" rIns="0">
            <a:spAutoFit/>
          </a:bodyPr>
          <a:lstStyle/>
          <a:p>
            <a:pPr>
              <a:defRPr sz="950" b="1">
                <a:solidFill>
                  <a:srgbClr val="C8A064"/>
                </a:solidFill>
                <a:latin typeface="Arial"/>
              </a:defRPr>
            </a:pPr>
            <a:r>
              <a:t>THE 6 STRATEGIC 2030 SUSTAINABILITY TARGETS</a:t>
            </a:r>
          </a:p>
          <a:p>
            <a:pPr>
              <a:spcBef>
                <a:spcPts val="400"/>
              </a:spcBef>
              <a:defRPr sz="950" b="1">
                <a:solidFill>
                  <a:srgbClr val="FFFFFF"/>
                </a:solidFill>
                <a:latin typeface="Arial"/>
              </a:defRPr>
            </a:pPr>
            <a:r>
              <a:t>01. Decarbonization &amp; Net-Zero 2050</a:t>
            </a:r>
          </a:p>
          <a:p>
            <a:pPr>
              <a:spcBef>
                <a:spcPts val="100"/>
              </a:spcBef>
              <a:defRPr sz="800">
                <a:solidFill>
                  <a:srgbClr val="A5B9CD"/>
                </a:solidFill>
                <a:latin typeface="Arial"/>
              </a:defRPr>
            </a:pPr>
            <a:r>
              <a:t>30% absolute Scope 1 &amp; 2 emissions reduction by 2030; net-zero emissions target by 2050 aligned to Paris Agreement.</a:t>
            </a:r>
          </a:p>
          <a:p>
            <a:pPr>
              <a:spcBef>
                <a:spcPts val="400"/>
              </a:spcBef>
              <a:defRPr sz="950" b="1">
                <a:solidFill>
                  <a:srgbClr val="FFFFFF"/>
                </a:solidFill>
                <a:latin typeface="Arial"/>
              </a:defRPr>
            </a:pPr>
            <a:r>
              <a:t>02. Renewable Power Leadership</a:t>
            </a:r>
          </a:p>
          <a:p>
            <a:pPr>
              <a:spcBef>
                <a:spcPts val="100"/>
              </a:spcBef>
              <a:defRPr sz="800">
                <a:solidFill>
                  <a:srgbClr val="A5B9CD"/>
                </a:solidFill>
                <a:latin typeface="Arial"/>
              </a:defRPr>
            </a:pPr>
            <a:r>
              <a:t>50MW Khanyisa solar facility at South Deep; cutting-edge microgrids in Australia pushing renewables to 54% of global mix.</a:t>
            </a:r>
          </a:p>
          <a:p>
            <a:pPr>
              <a:spcBef>
                <a:spcPts val="400"/>
              </a:spcBef>
              <a:defRPr sz="950" b="1">
                <a:solidFill>
                  <a:srgbClr val="FFFFFF"/>
                </a:solidFill>
                <a:latin typeface="Arial"/>
              </a:defRPr>
            </a:pPr>
            <a:r>
              <a:t>03. Water Stewardship</a:t>
            </a:r>
          </a:p>
          <a:p>
            <a:pPr>
              <a:spcBef>
                <a:spcPts val="100"/>
              </a:spcBef>
              <a:defRPr sz="800">
                <a:solidFill>
                  <a:srgbClr val="A5B9CD"/>
                </a:solidFill>
                <a:latin typeface="Arial"/>
              </a:defRPr>
            </a:pPr>
            <a:r>
              <a:t>Achieved 80% recycled and reused water benchmark across all operational processing facilities, protecting local catchments.</a:t>
            </a:r>
          </a:p>
          <a:p>
            <a:pPr>
              <a:spcBef>
                <a:spcPts val="400"/>
              </a:spcBef>
              <a:defRPr sz="950" b="1">
                <a:solidFill>
                  <a:srgbClr val="FFFFFF"/>
                </a:solidFill>
                <a:latin typeface="Arial"/>
              </a:defRPr>
            </a:pPr>
            <a:r>
              <a:t>04. Tailings Dam Safety (GISTM)</a:t>
            </a:r>
          </a:p>
          <a:p>
            <a:pPr>
              <a:spcBef>
                <a:spcPts val="100"/>
              </a:spcBef>
              <a:defRPr sz="800">
                <a:solidFill>
                  <a:srgbClr val="A5B9CD"/>
                </a:solidFill>
                <a:latin typeface="Arial"/>
              </a:defRPr>
            </a:pPr>
            <a:r>
              <a:t>100% compliance with the Global Industry Standard on Tailings Management (GISTM) across all active and inactive storage facilities.</a:t>
            </a:r>
          </a:p>
          <a:p>
            <a:pPr>
              <a:spcBef>
                <a:spcPts val="400"/>
              </a:spcBef>
              <a:defRPr sz="950" b="1">
                <a:solidFill>
                  <a:srgbClr val="FFFFFF"/>
                </a:solidFill>
                <a:latin typeface="Arial"/>
              </a:defRPr>
            </a:pPr>
            <a:r>
              <a:t>05. Gender Diversity &amp; Inclusion</a:t>
            </a:r>
          </a:p>
          <a:p>
            <a:pPr>
              <a:spcBef>
                <a:spcPts val="100"/>
              </a:spcBef>
              <a:defRPr sz="800">
                <a:solidFill>
                  <a:srgbClr val="A5B9CD"/>
                </a:solidFill>
                <a:latin typeface="Arial"/>
              </a:defRPr>
            </a:pPr>
            <a:r>
              <a:t>25% female workforce participation target by 2030 with specialized operational training and executive development.</a:t>
            </a:r>
          </a:p>
          <a:p>
            <a:pPr>
              <a:spcBef>
                <a:spcPts val="400"/>
              </a:spcBef>
              <a:defRPr sz="950" b="1">
                <a:solidFill>
                  <a:srgbClr val="FFFFFF"/>
                </a:solidFill>
                <a:latin typeface="Arial"/>
              </a:defRPr>
            </a:pPr>
            <a:r>
              <a:t>06. Host Community Value Creation</a:t>
            </a:r>
          </a:p>
          <a:p>
            <a:pPr>
              <a:spcBef>
                <a:spcPts val="100"/>
              </a:spcBef>
              <a:defRPr sz="800">
                <a:solidFill>
                  <a:srgbClr val="A5B9CD"/>
                </a:solidFill>
                <a:latin typeface="Arial"/>
              </a:defRPr>
            </a:pPr>
            <a:r>
              <a:t>Over 80% local procurement spend and continuous trust distributions to host community foundations.</a:t>
            </a:r>
          </a:p>
        </p:txBody>
      </p:sp>
      <p:sp>
        <p:nvSpPr>
          <p:cNvPr id="12" name="Rectangle 11"/>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14" name="TextBox 13"/>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07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CAPITAL MARKETS HUB</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Investor Relations Hub: Institutional Disclosures &amp; Regulatory Speed</a:t>
            </a:r>
          </a:p>
        </p:txBody>
      </p:sp>
      <p:sp>
        <p:nvSpPr>
          <p:cNvPr id="7" name="Rounded Rectangle 6"/>
          <p:cNvSpPr/>
          <p:nvPr/>
        </p:nvSpPr>
        <p:spPr>
          <a:xfrm>
            <a:off x="731520" y="1508760"/>
            <a:ext cx="4114800" cy="4709160"/>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dia_1790562287284.png"/>
          <p:cNvPicPr>
            <a:picLocks noChangeAspect="1"/>
          </p:cNvPicPr>
          <p:nvPr/>
        </p:nvPicPr>
        <p:blipFill>
          <a:blip r:embed="rId3"/>
          <a:stretch>
            <a:fillRect/>
          </a:stretch>
        </p:blipFill>
        <p:spPr>
          <a:xfrm>
            <a:off x="868680" y="1645920"/>
            <a:ext cx="3840480" cy="3307796"/>
          </a:xfrm>
          <a:prstGeom prst="rect">
            <a:avLst/>
          </a:prstGeom>
        </p:spPr>
      </p:pic>
      <p:sp>
        <p:nvSpPr>
          <p:cNvPr id="9" name="TextBox 8"/>
          <p:cNvSpPr txBox="1"/>
          <p:nvPr/>
        </p:nvSpPr>
        <p:spPr>
          <a:xfrm>
            <a:off x="868680" y="5120640"/>
            <a:ext cx="3840480" cy="914400"/>
          </a:xfrm>
          <a:prstGeom prst="rect">
            <a:avLst/>
          </a:prstGeom>
          <a:noFill/>
        </p:spPr>
        <p:txBody>
          <a:bodyPr wrap="square" lIns="0" tIns="0" bIns="0" rIns="0">
            <a:spAutoFit/>
          </a:bodyPr>
          <a:lstStyle/>
          <a:p>
            <a:pPr>
              <a:defRPr sz="850" b="1">
                <a:solidFill>
                  <a:srgbClr val="00E5C0"/>
                </a:solidFill>
                <a:latin typeface="Arial"/>
              </a:defRPr>
            </a:pPr>
            <a:r>
              <a:t>OFFICIAL H1 2026 RESULTS PORTAL INTEGRATION</a:t>
            </a:r>
          </a:p>
          <a:p>
            <a:pPr>
              <a:defRPr sz="800">
                <a:solidFill>
                  <a:srgbClr val="A5B9CD"/>
                </a:solidFill>
                <a:latin typeface="Arial"/>
              </a:defRPr>
            </a:pPr>
            <a:r>
              <a:t>Live telemetry showing 1.06Moz attributable gold production, 151koz South Deep output, and one-click 3.8MB PDF booklet downloads.</a:t>
            </a:r>
          </a:p>
        </p:txBody>
      </p:sp>
      <p:sp>
        <p:nvSpPr>
          <p:cNvPr id="10" name="Rounded Rectangle 9"/>
          <p:cNvSpPr/>
          <p:nvPr/>
        </p:nvSpPr>
        <p:spPr>
          <a:xfrm>
            <a:off x="5074920" y="1508760"/>
            <a:ext cx="3063240" cy="4709160"/>
          </a:xfrm>
          <a:prstGeom prst="roundRect">
            <a:avLst/>
          </a:prstGeom>
          <a:solidFill>
            <a:srgbClr val="0B3052"/>
          </a:solidFill>
          <a:ln w="12700">
            <a:solidFill>
              <a:srgbClr val="00E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39512" y="1691640"/>
            <a:ext cx="2734056" cy="4343400"/>
          </a:xfrm>
          <a:prstGeom prst="rect">
            <a:avLst/>
          </a:prstGeom>
          <a:noFill/>
        </p:spPr>
        <p:txBody>
          <a:bodyPr wrap="square" lIns="0" tIns="0" bIns="0" rIns="0">
            <a:spAutoFit/>
          </a:bodyPr>
          <a:lstStyle/>
          <a:p>
            <a:pPr>
              <a:defRPr sz="950" b="1">
                <a:solidFill>
                  <a:srgbClr val="00E5C0"/>
                </a:solidFill>
                <a:latin typeface="Arial"/>
              </a:defRPr>
            </a:pPr>
            <a:r>
              <a:t>01. REGULATORY SENS &amp; SEC WIRE</a:t>
            </a:r>
          </a:p>
          <a:p>
            <a:pPr>
              <a:spcBef>
                <a:spcPts val="1000"/>
              </a:spcBef>
              <a:defRPr sz="1050" b="1">
                <a:solidFill>
                  <a:srgbClr val="FFFFFF"/>
                </a:solidFill>
                <a:latin typeface="Arial"/>
              </a:defRPr>
            </a:pPr>
            <a:r>
              <a:t>Automated SENS Syndication</a:t>
            </a:r>
          </a:p>
          <a:p>
            <a:pPr>
              <a:spcBef>
                <a:spcPts val="200"/>
              </a:spcBef>
              <a:defRPr sz="800">
                <a:solidFill>
                  <a:srgbClr val="A5B9CD"/>
                </a:solidFill>
                <a:latin typeface="Arial"/>
              </a:defRPr>
            </a:pPr>
            <a:r>
              <a:t>Instant synchronization with Johannesburg Stock Exchange (JSE SENS) regulatory announcements feed.</a:t>
            </a:r>
          </a:p>
          <a:p>
            <a:pPr>
              <a:spcBef>
                <a:spcPts val="1000"/>
              </a:spcBef>
              <a:defRPr sz="1050" b="1">
                <a:solidFill>
                  <a:srgbClr val="FFFFFF"/>
                </a:solidFill>
                <a:latin typeface="Arial"/>
              </a:defRPr>
            </a:pPr>
            <a:r>
              <a:t>SEC Form 6-K Broadcast</a:t>
            </a:r>
          </a:p>
          <a:p>
            <a:pPr>
              <a:spcBef>
                <a:spcPts val="200"/>
              </a:spcBef>
              <a:defRPr sz="800">
                <a:solidFill>
                  <a:srgbClr val="A5B9CD"/>
                </a:solidFill>
                <a:latin typeface="Arial"/>
              </a:defRPr>
            </a:pPr>
            <a:r>
              <a:t>Automated distribution for NYSE American Depositary Receipt (ADR) filings compliance.</a:t>
            </a:r>
          </a:p>
          <a:p>
            <a:pPr>
              <a:spcBef>
                <a:spcPts val="1000"/>
              </a:spcBef>
              <a:defRPr sz="1050" b="1">
                <a:solidFill>
                  <a:srgbClr val="FFFFFF"/>
                </a:solidFill>
                <a:latin typeface="Arial"/>
              </a:defRPr>
            </a:pPr>
            <a:r>
              <a:t>Synchronized Disclosures</a:t>
            </a:r>
          </a:p>
          <a:p>
            <a:pPr>
              <a:spcBef>
                <a:spcPts val="200"/>
              </a:spcBef>
              <a:defRPr sz="800">
                <a:solidFill>
                  <a:srgbClr val="A5B9CD"/>
                </a:solidFill>
                <a:latin typeface="Arial"/>
              </a:defRPr>
            </a:pPr>
            <a:r>
              <a:t>Price-sensitive announcements dispatched instantly to registered institutional distribution lists.</a:t>
            </a:r>
          </a:p>
        </p:txBody>
      </p:sp>
      <p:sp>
        <p:nvSpPr>
          <p:cNvPr id="12" name="Rounded Rectangle 11"/>
          <p:cNvSpPr/>
          <p:nvPr/>
        </p:nvSpPr>
        <p:spPr>
          <a:xfrm>
            <a:off x="8366760" y="1508760"/>
            <a:ext cx="3063240" cy="4709160"/>
          </a:xfrm>
          <a:prstGeom prst="roundRect">
            <a:avLst/>
          </a:prstGeom>
          <a:solidFill>
            <a:srgbClr val="0B3052"/>
          </a:solidFill>
          <a:ln w="12700">
            <a:solidFill>
              <a:srgbClr val="1F6E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31352" y="1691640"/>
            <a:ext cx="2734056" cy="4343400"/>
          </a:xfrm>
          <a:prstGeom prst="rect">
            <a:avLst/>
          </a:prstGeom>
          <a:noFill/>
        </p:spPr>
        <p:txBody>
          <a:bodyPr wrap="square" lIns="0" tIns="0" bIns="0" rIns="0">
            <a:spAutoFit/>
          </a:bodyPr>
          <a:lstStyle/>
          <a:p>
            <a:pPr>
              <a:defRPr sz="950" b="1">
                <a:solidFill>
                  <a:srgbClr val="1F6E43"/>
                </a:solidFill>
                <a:latin typeface="Arial"/>
              </a:defRPr>
            </a:pPr>
            <a:r>
              <a:t>02. SHAREHOLDER VALUE ENGINE</a:t>
            </a:r>
          </a:p>
          <a:p>
            <a:pPr>
              <a:spcBef>
                <a:spcPts val="1000"/>
              </a:spcBef>
              <a:defRPr sz="1050" b="1">
                <a:solidFill>
                  <a:srgbClr val="FFFFFF"/>
                </a:solidFill>
                <a:latin typeface="Arial"/>
              </a:defRPr>
            </a:pPr>
            <a:r>
              <a:t>Total Return Calculator</a:t>
            </a:r>
          </a:p>
          <a:p>
            <a:pPr>
              <a:spcBef>
                <a:spcPts val="200"/>
              </a:spcBef>
              <a:defRPr sz="800">
                <a:solidFill>
                  <a:srgbClr val="A5B9CD"/>
                </a:solidFill>
                <a:latin typeface="Arial"/>
              </a:defRPr>
            </a:pPr>
            <a:r>
              <a:t>Historical share performance, capital gains, and dividend reinvestment visualizer.</a:t>
            </a:r>
          </a:p>
          <a:p>
            <a:pPr>
              <a:spcBef>
                <a:spcPts val="1000"/>
              </a:spcBef>
              <a:defRPr sz="1050" b="1">
                <a:solidFill>
                  <a:srgbClr val="FFFFFF"/>
                </a:solidFill>
                <a:latin typeface="Arial"/>
              </a:defRPr>
            </a:pPr>
            <a:r>
              <a:t>Capital Allocation Tracking</a:t>
            </a:r>
          </a:p>
          <a:p>
            <a:pPr>
              <a:spcBef>
                <a:spcPts val="200"/>
              </a:spcBef>
              <a:defRPr sz="800">
                <a:solidFill>
                  <a:srgbClr val="A5B9CD"/>
                </a:solidFill>
                <a:latin typeface="Arial"/>
              </a:defRPr>
            </a:pPr>
            <a:r>
              <a:t>Transparent visibility into growth capex, sustaining capex, and dividend payouts.</a:t>
            </a:r>
          </a:p>
          <a:p>
            <a:pPr>
              <a:spcBef>
                <a:spcPts val="1000"/>
              </a:spcBef>
              <a:defRPr sz="1050" b="1">
                <a:solidFill>
                  <a:srgbClr val="FFFFFF"/>
                </a:solidFill>
                <a:latin typeface="Arial"/>
              </a:defRPr>
            </a:pPr>
            <a:r>
              <a:t>Financial Event Calendar</a:t>
            </a:r>
          </a:p>
          <a:p>
            <a:pPr>
              <a:spcBef>
                <a:spcPts val="200"/>
              </a:spcBef>
              <a:defRPr sz="800">
                <a:solidFill>
                  <a:srgbClr val="A5B9CD"/>
                </a:solidFill>
                <a:latin typeface="Arial"/>
              </a:defRPr>
            </a:pPr>
            <a:r>
              <a:t>One-click .ics calendar synchronization for AGM, earnings webcasts, and analyst roadshows.</a:t>
            </a:r>
          </a:p>
        </p:txBody>
      </p:sp>
      <p:sp>
        <p:nvSpPr>
          <p:cNvPr id="14" name="Rectangle 13"/>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16" name="TextBox 15"/>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08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STUDIO OS CMS</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Studio OS CMS: Visual Block Builder &amp; In-House Content Autonomy</a:t>
            </a:r>
          </a:p>
        </p:txBody>
      </p:sp>
      <p:sp>
        <p:nvSpPr>
          <p:cNvPr id="7" name="Rounded Rectangle 6"/>
          <p:cNvSpPr/>
          <p:nvPr/>
        </p:nvSpPr>
        <p:spPr>
          <a:xfrm>
            <a:off x="731520" y="1508760"/>
            <a:ext cx="5669280" cy="4709160"/>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dia_1790567902942.png"/>
          <p:cNvPicPr>
            <a:picLocks noChangeAspect="1"/>
          </p:cNvPicPr>
          <p:nvPr/>
        </p:nvPicPr>
        <p:blipFill>
          <a:blip r:embed="rId3"/>
          <a:stretch>
            <a:fillRect/>
          </a:stretch>
        </p:blipFill>
        <p:spPr>
          <a:xfrm>
            <a:off x="868680" y="1645920"/>
            <a:ext cx="5394960" cy="3082082"/>
          </a:xfrm>
          <a:prstGeom prst="rect">
            <a:avLst/>
          </a:prstGeom>
        </p:spPr>
      </p:pic>
      <p:sp>
        <p:nvSpPr>
          <p:cNvPr id="9" name="TextBox 8"/>
          <p:cNvSpPr txBox="1"/>
          <p:nvPr/>
        </p:nvSpPr>
        <p:spPr>
          <a:xfrm>
            <a:off x="868680" y="5349240"/>
            <a:ext cx="5394960" cy="731520"/>
          </a:xfrm>
          <a:prstGeom prst="rect">
            <a:avLst/>
          </a:prstGeom>
          <a:noFill/>
        </p:spPr>
        <p:txBody>
          <a:bodyPr wrap="square" lIns="0" tIns="0" bIns="0" rIns="0">
            <a:spAutoFit/>
          </a:bodyPr>
          <a:lstStyle/>
          <a:p>
            <a:pPr>
              <a:defRPr sz="850" b="1">
                <a:solidFill>
                  <a:srgbClr val="00E5C0"/>
                </a:solidFill>
                <a:latin typeface="Arial"/>
              </a:defRPr>
            </a:pPr>
            <a:r>
              <a:t>STUDIO OS LIVE VISUAL BUILDER: REARRANGE, DUPLICATE &amp; EDIT SECTIONS</a:t>
            </a:r>
          </a:p>
          <a:p>
            <a:pPr>
              <a:defRPr sz="800">
                <a:solidFill>
                  <a:srgbClr val="A5B9CD"/>
                </a:solidFill>
                <a:latin typeface="Arial"/>
              </a:defRPr>
            </a:pPr>
            <a:r>
              <a:t>Visual block canvas allowing communications teams to manage hero copy, stats, and press releases.</a:t>
            </a:r>
          </a:p>
        </p:txBody>
      </p:sp>
      <p:sp>
        <p:nvSpPr>
          <p:cNvPr id="10" name="Rounded Rectangle 9"/>
          <p:cNvSpPr/>
          <p:nvPr/>
        </p:nvSpPr>
        <p:spPr>
          <a:xfrm>
            <a:off x="6656832" y="1508760"/>
            <a:ext cx="4800600" cy="4709160"/>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03720" y="1691640"/>
            <a:ext cx="4297680" cy="4343400"/>
          </a:xfrm>
          <a:prstGeom prst="rect">
            <a:avLst/>
          </a:prstGeom>
          <a:noFill/>
        </p:spPr>
        <p:txBody>
          <a:bodyPr wrap="square" lIns="0" tIns="0" bIns="0" rIns="0">
            <a:spAutoFit/>
          </a:bodyPr>
          <a:lstStyle/>
          <a:p>
            <a:pPr>
              <a:defRPr sz="950" b="1">
                <a:solidFill>
                  <a:srgbClr val="C8A064"/>
                </a:solidFill>
                <a:latin typeface="Arial"/>
              </a:defRPr>
            </a:pPr>
            <a:r>
              <a:t>STUDIO OS CAPABILITIES FOR GOLD FIELDS</a:t>
            </a:r>
          </a:p>
          <a:p>
            <a:pPr>
              <a:spcBef>
                <a:spcPts val="800"/>
              </a:spcBef>
              <a:defRPr sz="1100" b="1">
                <a:solidFill>
                  <a:srgbClr val="FFFFFF"/>
                </a:solidFill>
                <a:latin typeface="Arial"/>
              </a:defRPr>
            </a:pPr>
            <a:r>
              <a:t>Drag-and-Drop Modular Canvas</a:t>
            </a:r>
          </a:p>
          <a:p>
            <a:pPr>
              <a:spcBef>
                <a:spcPts val="200"/>
              </a:spcBef>
              <a:defRPr sz="900">
                <a:solidFill>
                  <a:srgbClr val="A5B9CD"/>
                </a:solidFill>
                <a:latin typeface="Arial"/>
              </a:defRPr>
            </a:pPr>
            <a:r>
              <a:t>Corporate teams can reorder, insert, or retire modular blocks (Hero, Stat Counters, Video Reels, Executive Quotes) without touching source code.</a:t>
            </a:r>
          </a:p>
          <a:p>
            <a:pPr>
              <a:spcBef>
                <a:spcPts val="800"/>
              </a:spcBef>
              <a:defRPr sz="1100" b="1">
                <a:solidFill>
                  <a:srgbClr val="FFFFFF"/>
                </a:solidFill>
                <a:latin typeface="Arial"/>
              </a:defRPr>
            </a:pPr>
            <a:r>
              <a:t>Pre-Approved Design Guardrails</a:t>
            </a:r>
          </a:p>
          <a:p>
            <a:pPr>
              <a:spcBef>
                <a:spcPts val="200"/>
              </a:spcBef>
              <a:defRPr sz="900">
                <a:solidFill>
                  <a:srgbClr val="A5B9CD"/>
                </a:solidFill>
                <a:latin typeface="Arial"/>
              </a:defRPr>
            </a:pPr>
            <a:r>
              <a:t>Brand typography, palette tokens, and layout ratios are hardcoded into components, preventing unauthorized visual drift.</a:t>
            </a:r>
          </a:p>
          <a:p>
            <a:pPr>
              <a:spcBef>
                <a:spcPts val="800"/>
              </a:spcBef>
              <a:defRPr sz="1100" b="1">
                <a:solidFill>
                  <a:srgbClr val="FFFFFF"/>
                </a:solidFill>
                <a:latin typeface="Arial"/>
              </a:defRPr>
            </a:pPr>
            <a:r>
              <a:t>Instant Responsive Viewports</a:t>
            </a:r>
          </a:p>
          <a:p>
            <a:pPr>
              <a:spcBef>
                <a:spcPts val="200"/>
              </a:spcBef>
              <a:defRPr sz="900">
                <a:solidFill>
                  <a:srgbClr val="A5B9CD"/>
                </a:solidFill>
                <a:latin typeface="Arial"/>
              </a:defRPr>
            </a:pPr>
            <a:r>
              <a:t>Toggle live simulation across iPhone (375px), iPad (768px), Laptop (1440px), and 4K displays before hitting publish.</a:t>
            </a:r>
          </a:p>
          <a:p>
            <a:pPr>
              <a:spcBef>
                <a:spcPts val="800"/>
              </a:spcBef>
              <a:defRPr sz="1100" b="1">
                <a:solidFill>
                  <a:srgbClr val="FFFFFF"/>
                </a:solidFill>
                <a:latin typeface="Arial"/>
              </a:defRPr>
            </a:pPr>
            <a:r>
              <a:t>Encrypted Draft Previews</a:t>
            </a:r>
          </a:p>
          <a:p>
            <a:pPr>
              <a:spcBef>
                <a:spcPts val="200"/>
              </a:spcBef>
              <a:defRPr sz="900">
                <a:solidFill>
                  <a:srgbClr val="A5B9CD"/>
                </a:solidFill>
                <a:latin typeface="Arial"/>
              </a:defRPr>
            </a:pPr>
            <a:r>
              <a:t>Generate secure, shareable draft links with 24-hour expiration tokens for executive committee and legal review before public deployment.</a:t>
            </a:r>
          </a:p>
        </p:txBody>
      </p:sp>
      <p:sp>
        <p:nvSpPr>
          <p:cNvPr id="12" name="Rectangle 11"/>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14" name="TextBox 13"/>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09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REGULATORY GOVERNANCE</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Editorial Governance: Multi-Tier Approval Workflows &amp; Audit Trail</a:t>
            </a:r>
          </a:p>
        </p:txBody>
      </p:sp>
      <p:sp>
        <p:nvSpPr>
          <p:cNvPr id="7" name="Rounded Rectangle 6"/>
          <p:cNvSpPr/>
          <p:nvPr/>
        </p:nvSpPr>
        <p:spPr>
          <a:xfrm>
            <a:off x="731520" y="1508760"/>
            <a:ext cx="5120640" cy="4709160"/>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overnance-audit-card.png"/>
          <p:cNvPicPr>
            <a:picLocks noChangeAspect="1"/>
          </p:cNvPicPr>
          <p:nvPr/>
        </p:nvPicPr>
        <p:blipFill>
          <a:blip r:embed="rId3"/>
          <a:stretch>
            <a:fillRect/>
          </a:stretch>
        </p:blipFill>
        <p:spPr>
          <a:xfrm>
            <a:off x="868680" y="1645920"/>
            <a:ext cx="4846320" cy="3150108"/>
          </a:xfrm>
          <a:prstGeom prst="rect">
            <a:avLst/>
          </a:prstGeom>
        </p:spPr>
      </p:pic>
      <p:sp>
        <p:nvSpPr>
          <p:cNvPr id="9" name="TextBox 8"/>
          <p:cNvSpPr txBox="1"/>
          <p:nvPr/>
        </p:nvSpPr>
        <p:spPr>
          <a:xfrm>
            <a:off x="868680" y="5349240"/>
            <a:ext cx="4846320" cy="731520"/>
          </a:xfrm>
          <a:prstGeom prst="rect">
            <a:avLst/>
          </a:prstGeom>
          <a:noFill/>
        </p:spPr>
        <p:txBody>
          <a:bodyPr wrap="square" lIns="0" tIns="0" bIns="0" rIns="0">
            <a:spAutoFit/>
          </a:bodyPr>
          <a:lstStyle/>
          <a:p>
            <a:pPr>
              <a:defRPr sz="850" b="1">
                <a:solidFill>
                  <a:srgbClr val="00E5C0"/>
                </a:solidFill>
                <a:latin typeface="Arial"/>
              </a:defRPr>
            </a:pPr>
            <a:r>
              <a:t>IMMUTABLE AUDIT LOG &amp; 4-TIER REGULATORY STAGES</a:t>
            </a:r>
          </a:p>
          <a:p>
            <a:pPr>
              <a:defRPr sz="800">
                <a:solidFill>
                  <a:srgbClr val="A5B9CD"/>
                </a:solidFill>
                <a:latin typeface="Arial"/>
              </a:defRPr>
            </a:pPr>
            <a:r>
              <a:t>Full cryptographic SHA-256 integrity tracking and market embargo synchronization.</a:t>
            </a:r>
          </a:p>
        </p:txBody>
      </p:sp>
      <p:sp>
        <p:nvSpPr>
          <p:cNvPr id="10" name="Rounded Rectangle 9"/>
          <p:cNvSpPr/>
          <p:nvPr/>
        </p:nvSpPr>
        <p:spPr>
          <a:xfrm>
            <a:off x="6108192" y="1508760"/>
            <a:ext cx="5349240" cy="4709160"/>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91640"/>
            <a:ext cx="4846320" cy="4343400"/>
          </a:xfrm>
          <a:prstGeom prst="rect">
            <a:avLst/>
          </a:prstGeom>
          <a:noFill/>
        </p:spPr>
        <p:txBody>
          <a:bodyPr wrap="square" lIns="0" tIns="0" bIns="0" rIns="0">
            <a:spAutoFit/>
          </a:bodyPr>
          <a:lstStyle/>
          <a:p>
            <a:pPr>
              <a:defRPr sz="950" b="1">
                <a:solidFill>
                  <a:srgbClr val="C8A064"/>
                </a:solidFill>
                <a:latin typeface="Arial"/>
              </a:defRPr>
            </a:pPr>
            <a:r>
              <a:t>CRYPTOGRAPHIC AUDIT &amp; COMPLIANCE SPECIFICATIONS</a:t>
            </a:r>
          </a:p>
          <a:p>
            <a:pPr>
              <a:spcBef>
                <a:spcPts val="800"/>
              </a:spcBef>
              <a:defRPr sz="1100" b="1">
                <a:solidFill>
                  <a:srgbClr val="00E5C0"/>
                </a:solidFill>
                <a:latin typeface="Arial"/>
              </a:defRPr>
            </a:pPr>
            <a:r>
              <a:t>Immutable SHA-256 Revision History</a:t>
            </a:r>
          </a:p>
          <a:p>
            <a:pPr>
              <a:spcBef>
                <a:spcPts val="200"/>
              </a:spcBef>
              <a:defRPr sz="900">
                <a:solidFill>
                  <a:srgbClr val="FFFFFF"/>
                </a:solidFill>
                <a:latin typeface="Arial"/>
              </a:defRPr>
            </a:pPr>
            <a:r>
              <a:t>Every edit, review status change, and publication event is permanently hashed with user identity, IP address, and millisecond timestamp.</a:t>
            </a:r>
          </a:p>
          <a:p>
            <a:pPr>
              <a:spcBef>
                <a:spcPts val="800"/>
              </a:spcBef>
              <a:defRPr sz="1100" b="1">
                <a:solidFill>
                  <a:srgbClr val="00E5C0"/>
                </a:solidFill>
                <a:latin typeface="Arial"/>
              </a:defRPr>
            </a:pPr>
            <a:r>
              <a:t>Instant 3-Second Rollback</a:t>
            </a:r>
          </a:p>
          <a:p>
            <a:pPr>
              <a:spcBef>
                <a:spcPts val="200"/>
              </a:spcBef>
              <a:defRPr sz="900">
                <a:solidFill>
                  <a:srgbClr val="FFFFFF"/>
                </a:solidFill>
                <a:latin typeface="Arial"/>
              </a:defRPr>
            </a:pPr>
            <a:r>
              <a:t>In the event of an urgent market correction or regulatory error, any prior page version can be restored globally in under 3 seconds.</a:t>
            </a:r>
          </a:p>
          <a:p>
            <a:pPr>
              <a:spcBef>
                <a:spcPts val="800"/>
              </a:spcBef>
              <a:defRPr sz="1100" b="1">
                <a:solidFill>
                  <a:srgbClr val="00E5C0"/>
                </a:solidFill>
                <a:latin typeface="Arial"/>
              </a:defRPr>
            </a:pPr>
            <a:r>
              <a:t>Market Embargo Synchronization</a:t>
            </a:r>
          </a:p>
          <a:p>
            <a:pPr>
              <a:spcBef>
                <a:spcPts val="200"/>
              </a:spcBef>
              <a:defRPr sz="900">
                <a:solidFill>
                  <a:srgbClr val="FFFFFF"/>
                </a:solidFill>
                <a:latin typeface="Arial"/>
              </a:defRPr>
            </a:pPr>
            <a:r>
              <a:t>Content releases can be synchronized to the exact second with JSE market opening (09:00 SAST) or NYSE trading halts.</a:t>
            </a:r>
          </a:p>
          <a:p>
            <a:pPr>
              <a:spcBef>
                <a:spcPts val="800"/>
              </a:spcBef>
              <a:defRPr sz="1100" b="1">
                <a:solidFill>
                  <a:srgbClr val="00E5C0"/>
                </a:solidFill>
                <a:latin typeface="Arial"/>
              </a:defRPr>
            </a:pPr>
            <a:r>
              <a:t>Full JSE / SEC Compliance Export</a:t>
            </a:r>
          </a:p>
          <a:p>
            <a:pPr>
              <a:spcBef>
                <a:spcPts val="200"/>
              </a:spcBef>
              <a:defRPr sz="900">
                <a:solidFill>
                  <a:srgbClr val="FFFFFF"/>
                </a:solidFill>
                <a:latin typeface="Arial"/>
              </a:defRPr>
            </a:pPr>
            <a:r>
              <a:t>Generate complete compliance audit packets detailing who authored, reviewed, and approved every sensitive disclosure.</a:t>
            </a:r>
          </a:p>
        </p:txBody>
      </p:sp>
      <p:sp>
        <p:nvSpPr>
          <p:cNvPr id="12" name="Rectangle 11"/>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14" name="TextBox 13"/>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DESIGN SYSTEM</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Living Design System: Corporate Tokens &amp; WCAG AAA Accessibility</a:t>
            </a:r>
          </a:p>
        </p:txBody>
      </p:sp>
      <p:sp>
        <p:nvSpPr>
          <p:cNvPr id="7" name="Rounded Rectangle 6"/>
          <p:cNvSpPr/>
          <p:nvPr/>
        </p:nvSpPr>
        <p:spPr>
          <a:xfrm>
            <a:off x="731520" y="1508760"/>
            <a:ext cx="5669280" cy="4709160"/>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esign-system-tokens.png"/>
          <p:cNvPicPr>
            <a:picLocks noChangeAspect="1"/>
          </p:cNvPicPr>
          <p:nvPr/>
        </p:nvPicPr>
        <p:blipFill>
          <a:blip r:embed="rId3"/>
          <a:stretch>
            <a:fillRect/>
          </a:stretch>
        </p:blipFill>
        <p:spPr>
          <a:xfrm>
            <a:off x="868680" y="1645920"/>
            <a:ext cx="5394960" cy="3506724"/>
          </a:xfrm>
          <a:prstGeom prst="rect">
            <a:avLst/>
          </a:prstGeom>
        </p:spPr>
      </p:pic>
      <p:sp>
        <p:nvSpPr>
          <p:cNvPr id="9" name="TextBox 8"/>
          <p:cNvSpPr txBox="1"/>
          <p:nvPr/>
        </p:nvSpPr>
        <p:spPr>
          <a:xfrm>
            <a:off x="868680" y="5349240"/>
            <a:ext cx="5394960" cy="731520"/>
          </a:xfrm>
          <a:prstGeom prst="rect">
            <a:avLst/>
          </a:prstGeom>
          <a:noFill/>
        </p:spPr>
        <p:txBody>
          <a:bodyPr wrap="square" lIns="0" tIns="0" bIns="0" rIns="0">
            <a:spAutoFit/>
          </a:bodyPr>
          <a:lstStyle/>
          <a:p>
            <a:pPr>
              <a:defRPr sz="850" b="1">
                <a:solidFill>
                  <a:srgbClr val="00E5C0"/>
                </a:solidFill>
                <a:latin typeface="Arial"/>
              </a:defRPr>
            </a:pPr>
            <a:r>
              <a:t>LIVING DESIGN TOKENS &amp; WCAG AAA ACCESSIBILITY VERIFICATION</a:t>
            </a:r>
          </a:p>
          <a:p>
            <a:pPr>
              <a:defRPr sz="800">
                <a:solidFill>
                  <a:srgbClr val="A5B9CD"/>
                </a:solidFill>
                <a:latin typeface="Arial"/>
              </a:defRPr>
            </a:pPr>
            <a:r>
              <a:t>Harmonizing corporate color tokens, WCAG AAA contrast compliance, and typography scale.</a:t>
            </a:r>
          </a:p>
        </p:txBody>
      </p:sp>
      <p:sp>
        <p:nvSpPr>
          <p:cNvPr id="10" name="Rounded Rectangle 9"/>
          <p:cNvSpPr/>
          <p:nvPr/>
        </p:nvSpPr>
        <p:spPr>
          <a:xfrm>
            <a:off x="6656832" y="1508760"/>
            <a:ext cx="4800600" cy="4709160"/>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03720" y="1691640"/>
            <a:ext cx="4297680" cy="4343400"/>
          </a:xfrm>
          <a:prstGeom prst="rect">
            <a:avLst/>
          </a:prstGeom>
          <a:noFill/>
        </p:spPr>
        <p:txBody>
          <a:bodyPr wrap="square" lIns="0" tIns="0" bIns="0" rIns="0">
            <a:spAutoFit/>
          </a:bodyPr>
          <a:lstStyle/>
          <a:p>
            <a:pPr>
              <a:defRPr sz="950" b="1">
                <a:solidFill>
                  <a:srgbClr val="C8A064"/>
                </a:solidFill>
                <a:latin typeface="Arial"/>
              </a:defRPr>
            </a:pPr>
            <a:r>
              <a:t>BRAND IDENTITY &amp; COLOR ARCHITECTURE</a:t>
            </a:r>
          </a:p>
          <a:p>
            <a:pPr>
              <a:spcBef>
                <a:spcPts val="600"/>
              </a:spcBef>
              <a:defRPr sz="1050" b="1">
                <a:solidFill>
                  <a:srgbClr val="FFFFFF"/>
                </a:solidFill>
                <a:latin typeface="Arial"/>
              </a:defRPr>
            </a:pPr>
            <a:r>
              <a:t>Deep Navy (#061D32 / #082B49)</a:t>
            </a:r>
          </a:p>
          <a:p>
            <a:pPr>
              <a:spcBef>
                <a:spcPts val="100"/>
              </a:spcBef>
              <a:defRPr sz="850">
                <a:solidFill>
                  <a:srgbClr val="A5B9CD"/>
                </a:solidFill>
                <a:latin typeface="Arial"/>
              </a:defRPr>
            </a:pPr>
            <a:r>
              <a:t>The anchor of Gold Fields' institutional stature. Conveys corporate governance, bedrock stability, and enduring longevity.</a:t>
            </a:r>
          </a:p>
          <a:p>
            <a:pPr>
              <a:spcBef>
                <a:spcPts val="600"/>
              </a:spcBef>
              <a:defRPr sz="1050" b="1">
                <a:solidFill>
                  <a:srgbClr val="FFFFFF"/>
                </a:solidFill>
                <a:latin typeface="Arial"/>
              </a:defRPr>
            </a:pPr>
            <a:r>
              <a:t>Mineral Gold (#B79855 / #C8A064)</a:t>
            </a:r>
          </a:p>
          <a:p>
            <a:pPr>
              <a:spcBef>
                <a:spcPts val="100"/>
              </a:spcBef>
              <a:defRPr sz="850">
                <a:solidFill>
                  <a:srgbClr val="A5B9CD"/>
                </a:solidFill>
                <a:latin typeface="Arial"/>
              </a:defRPr>
            </a:pPr>
            <a:r>
              <a:t>Honors 130+ years of precious metal mining heritage while maintaining executive sophistication without garish brass tones.</a:t>
            </a:r>
          </a:p>
          <a:p>
            <a:pPr>
              <a:spcBef>
                <a:spcPts val="600"/>
              </a:spcBef>
              <a:defRPr sz="1050" b="1">
                <a:solidFill>
                  <a:srgbClr val="FFFFFF"/>
                </a:solidFill>
                <a:latin typeface="Arial"/>
              </a:defRPr>
            </a:pPr>
            <a:r>
              <a:t>Horizon Turquoise (#00E5C0)</a:t>
            </a:r>
          </a:p>
          <a:p>
            <a:pPr>
              <a:spcBef>
                <a:spcPts val="100"/>
              </a:spcBef>
              <a:defRPr sz="850">
                <a:solidFill>
                  <a:srgbClr val="A5B9CD"/>
                </a:solidFill>
                <a:latin typeface="Arial"/>
              </a:defRPr>
            </a:pPr>
            <a:r>
              <a:t>Represents clean energy transition, decarbonization, and future-forward technology ('beyond mining.').</a:t>
            </a:r>
          </a:p>
          <a:p>
            <a:pPr>
              <a:spcBef>
                <a:spcPts val="600"/>
              </a:spcBef>
              <a:defRPr sz="1050" b="1">
                <a:solidFill>
                  <a:srgbClr val="FFFFFF"/>
                </a:solidFill>
                <a:latin typeface="Arial"/>
              </a:defRPr>
            </a:pPr>
            <a:r>
              <a:t>Forest Green (#1F6E43)</a:t>
            </a:r>
          </a:p>
          <a:p>
            <a:pPr>
              <a:spcBef>
                <a:spcPts val="100"/>
              </a:spcBef>
              <a:defRPr sz="850">
                <a:solidFill>
                  <a:srgbClr val="A5B9CD"/>
                </a:solidFill>
                <a:latin typeface="Arial"/>
              </a:defRPr>
            </a:pPr>
            <a:r>
              <a:t>Reflects land rehabilitation, water stewardship, biodiversity protection, and sustainable mining standards.</a:t>
            </a:r>
          </a:p>
          <a:p>
            <a:pPr>
              <a:spcBef>
                <a:spcPts val="600"/>
              </a:spcBef>
              <a:defRPr sz="1050" b="1">
                <a:solidFill>
                  <a:srgbClr val="FFFFFF"/>
                </a:solidFill>
                <a:latin typeface="Arial"/>
              </a:defRPr>
            </a:pPr>
            <a:r>
              <a:t>WCAG 2.1 AAA Accessibility</a:t>
            </a:r>
          </a:p>
          <a:p>
            <a:pPr>
              <a:spcBef>
                <a:spcPts val="100"/>
              </a:spcBef>
              <a:defRPr sz="850">
                <a:solidFill>
                  <a:srgbClr val="A5B9CD"/>
                </a:solidFill>
                <a:latin typeface="Arial"/>
              </a:defRPr>
            </a:pPr>
            <a:r>
              <a:t>All text and interactive controls maintain certified contrast ratios exceeding 7:1 for seamless reading by institutional stakeholders worldwide.</a:t>
            </a:r>
          </a:p>
        </p:txBody>
      </p:sp>
      <p:sp>
        <p:nvSpPr>
          <p:cNvPr id="12" name="Rectangle 11"/>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14" name="TextBox 13"/>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SOCIAL &amp; MOBILE ENGINE</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Multi-Channel Distribution: Mobile Architecture &amp; Social Sharing Engine</a:t>
            </a:r>
          </a:p>
        </p:txBody>
      </p:sp>
      <p:sp>
        <p:nvSpPr>
          <p:cNvPr id="7" name="Rounded Rectangle 6"/>
          <p:cNvSpPr/>
          <p:nvPr/>
        </p:nvSpPr>
        <p:spPr>
          <a:xfrm>
            <a:off x="731520" y="1508760"/>
            <a:ext cx="5669280" cy="4709160"/>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oldfields-og-share.png"/>
          <p:cNvPicPr>
            <a:picLocks noChangeAspect="1"/>
          </p:cNvPicPr>
          <p:nvPr/>
        </p:nvPicPr>
        <p:blipFill>
          <a:blip r:embed="rId3"/>
          <a:stretch>
            <a:fillRect/>
          </a:stretch>
        </p:blipFill>
        <p:spPr>
          <a:xfrm>
            <a:off x="868680" y="1645920"/>
            <a:ext cx="5394960" cy="2832354"/>
          </a:xfrm>
          <a:prstGeom prst="rect">
            <a:avLst/>
          </a:prstGeom>
        </p:spPr>
      </p:pic>
      <p:sp>
        <p:nvSpPr>
          <p:cNvPr id="9" name="TextBox 8"/>
          <p:cNvSpPr txBox="1"/>
          <p:nvPr/>
        </p:nvSpPr>
        <p:spPr>
          <a:xfrm>
            <a:off x="868680" y="5349240"/>
            <a:ext cx="5394960" cy="731520"/>
          </a:xfrm>
          <a:prstGeom prst="rect">
            <a:avLst/>
          </a:prstGeom>
          <a:noFill/>
        </p:spPr>
        <p:txBody>
          <a:bodyPr wrap="square" lIns="0" tIns="0" bIns="0" rIns="0">
            <a:spAutoFit/>
          </a:bodyPr>
          <a:lstStyle/>
          <a:p>
            <a:pPr>
              <a:defRPr sz="850" b="1">
                <a:solidFill>
                  <a:srgbClr val="00E5C0"/>
                </a:solidFill>
                <a:latin typeface="Arial"/>
              </a:defRPr>
            </a:pPr>
            <a:r>
              <a:t>OFFICIAL 1200x630 OPEN GRAPH SOCIAL SHARING CARD (WHATSAPP / LINKEDIN)</a:t>
            </a:r>
          </a:p>
          <a:p>
            <a:pPr>
              <a:defRPr sz="800">
                <a:solidFill>
                  <a:srgbClr val="A5B9CD"/>
                </a:solidFill>
                <a:latin typeface="Arial"/>
              </a:defRPr>
            </a:pPr>
            <a:r>
              <a:t>Featuring official Gold Fields lion emblem, gold borders, and real-time operational metrics.</a:t>
            </a:r>
          </a:p>
        </p:txBody>
      </p:sp>
      <p:sp>
        <p:nvSpPr>
          <p:cNvPr id="10" name="Rounded Rectangle 9"/>
          <p:cNvSpPr/>
          <p:nvPr/>
        </p:nvSpPr>
        <p:spPr>
          <a:xfrm>
            <a:off x="6656832" y="1508760"/>
            <a:ext cx="4800600" cy="4709160"/>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03720" y="1691640"/>
            <a:ext cx="4297680" cy="4343400"/>
          </a:xfrm>
          <a:prstGeom prst="rect">
            <a:avLst/>
          </a:prstGeom>
          <a:noFill/>
        </p:spPr>
        <p:txBody>
          <a:bodyPr wrap="square" lIns="0" tIns="0" bIns="0" rIns="0">
            <a:spAutoFit/>
          </a:bodyPr>
          <a:lstStyle/>
          <a:p>
            <a:pPr>
              <a:defRPr sz="950" b="1">
                <a:solidFill>
                  <a:srgbClr val="C8A064"/>
                </a:solidFill>
                <a:latin typeface="Arial"/>
              </a:defRPr>
            </a:pPr>
            <a:r>
              <a:t>MULTI-CHANNEL DISTRIBUTION ADVANTAGES</a:t>
            </a:r>
          </a:p>
          <a:p>
            <a:pPr>
              <a:spcBef>
                <a:spcPts val="800"/>
              </a:spcBef>
              <a:defRPr sz="1100" b="1">
                <a:solidFill>
                  <a:srgbClr val="FFFFFF"/>
                </a:solidFill>
                <a:latin typeface="Arial"/>
              </a:defRPr>
            </a:pPr>
            <a:r>
              <a:t>High-Impact WhatsApp Previews</a:t>
            </a:r>
          </a:p>
          <a:p>
            <a:pPr>
              <a:spcBef>
                <a:spcPts val="200"/>
              </a:spcBef>
              <a:defRPr sz="900">
                <a:solidFill>
                  <a:srgbClr val="A5B9CD"/>
                </a:solidFill>
                <a:latin typeface="Arial"/>
              </a:defRPr>
            </a:pPr>
            <a:r>
              <a:t>When executives, journalists, or analysts share Gold Fields releases on WhatsApp, recipients see an elegant 1200x630px branded visual card instead of a plain link.</a:t>
            </a:r>
          </a:p>
          <a:p>
            <a:pPr>
              <a:spcBef>
                <a:spcPts val="800"/>
              </a:spcBef>
              <a:defRPr sz="1100" b="1">
                <a:solidFill>
                  <a:srgbClr val="FFFFFF"/>
                </a:solidFill>
                <a:latin typeface="Arial"/>
              </a:defRPr>
            </a:pPr>
            <a:r>
              <a:t>100% Fluid Mobile Responsiveness</a:t>
            </a:r>
          </a:p>
          <a:p>
            <a:pPr>
              <a:spcBef>
                <a:spcPts val="200"/>
              </a:spcBef>
              <a:defRPr sz="900">
                <a:solidFill>
                  <a:srgbClr val="A5B9CD"/>
                </a:solidFill>
                <a:latin typeface="Arial"/>
              </a:defRPr>
            </a:pPr>
            <a:r>
              <a:t>Engineered to perform flawlessly from 360px smartphones through tablets up to 4K executive boardroom displays with zero horizontal scroll.</a:t>
            </a:r>
          </a:p>
          <a:p>
            <a:pPr>
              <a:spcBef>
                <a:spcPts val="800"/>
              </a:spcBef>
              <a:defRPr sz="1100" b="1">
                <a:solidFill>
                  <a:srgbClr val="FFFFFF"/>
                </a:solidFill>
                <a:latin typeface="Arial"/>
              </a:defRPr>
            </a:pPr>
            <a:r>
              <a:t>Complete Favicon &amp; App Icon Suite</a:t>
            </a:r>
          </a:p>
          <a:p>
            <a:pPr>
              <a:spcBef>
                <a:spcPts val="200"/>
              </a:spcBef>
              <a:defRPr sz="900">
                <a:solidFill>
                  <a:srgbClr val="A5B9CD"/>
                </a:solidFill>
                <a:latin typeface="Arial"/>
              </a:defRPr>
            </a:pPr>
            <a:r>
              <a:t>Includes multi-resolution PNGs, SVGs, and Apple Touch Icons (180x180) for home-screen bookmarking by executive leadership.</a:t>
            </a:r>
          </a:p>
          <a:p>
            <a:pPr>
              <a:spcBef>
                <a:spcPts val="800"/>
              </a:spcBef>
              <a:defRPr sz="1100" b="1">
                <a:solidFill>
                  <a:srgbClr val="FFFFFF"/>
                </a:solidFill>
                <a:latin typeface="Arial"/>
              </a:defRPr>
            </a:pPr>
            <a:r>
              <a:t>Search Engine Structured Data</a:t>
            </a:r>
          </a:p>
          <a:p>
            <a:pPr>
              <a:spcBef>
                <a:spcPts val="200"/>
              </a:spcBef>
              <a:defRPr sz="900">
                <a:solidFill>
                  <a:srgbClr val="A5B9CD"/>
                </a:solidFill>
                <a:latin typeface="Arial"/>
              </a:defRPr>
            </a:pPr>
            <a:r>
              <a:t>Full Schema.org JSON-LD integration ensures Google News, Bloomberg, and Reuters index earnings announcements with rich corporate snippets.</a:t>
            </a:r>
          </a:p>
        </p:txBody>
      </p:sp>
      <p:sp>
        <p:nvSpPr>
          <p:cNvPr id="12" name="Rectangle 11"/>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14" name="TextBox 13"/>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INFRASTRUCTURE &amp; ACCESS</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Infrastructure &amp; Live Access: Serverless Edge &amp; Studio OS Credentials</a:t>
            </a:r>
          </a:p>
        </p:txBody>
      </p:sp>
      <p:sp>
        <p:nvSpPr>
          <p:cNvPr id="7" name="Rounded Rectangle 6"/>
          <p:cNvSpPr/>
          <p:nvPr/>
        </p:nvSpPr>
        <p:spPr>
          <a:xfrm>
            <a:off x="731520" y="1508760"/>
            <a:ext cx="5669280" cy="4709160"/>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dia_1790576120565.png"/>
          <p:cNvPicPr>
            <a:picLocks noChangeAspect="1"/>
          </p:cNvPicPr>
          <p:nvPr/>
        </p:nvPicPr>
        <p:blipFill>
          <a:blip r:embed="rId3"/>
          <a:stretch>
            <a:fillRect/>
          </a:stretch>
        </p:blipFill>
        <p:spPr>
          <a:xfrm>
            <a:off x="868680" y="1645920"/>
            <a:ext cx="5394960" cy="4004072"/>
          </a:xfrm>
          <a:prstGeom prst="rect">
            <a:avLst/>
          </a:prstGeom>
        </p:spPr>
      </p:pic>
      <p:sp>
        <p:nvSpPr>
          <p:cNvPr id="9" name="TextBox 8"/>
          <p:cNvSpPr txBox="1"/>
          <p:nvPr/>
        </p:nvSpPr>
        <p:spPr>
          <a:xfrm>
            <a:off x="868680" y="5349240"/>
            <a:ext cx="5394960" cy="731520"/>
          </a:xfrm>
          <a:prstGeom prst="rect">
            <a:avLst/>
          </a:prstGeom>
          <a:noFill/>
        </p:spPr>
        <p:txBody>
          <a:bodyPr wrap="square" lIns="0" tIns="0" bIns="0" rIns="0">
            <a:spAutoFit/>
          </a:bodyPr>
          <a:lstStyle/>
          <a:p>
            <a:pPr>
              <a:defRPr sz="850" b="1">
                <a:solidFill>
                  <a:srgbClr val="00E5C0"/>
                </a:solidFill>
                <a:latin typeface="Arial"/>
              </a:defRPr>
            </a:pPr>
            <a:r>
              <a:t>STUDIO OS EXECUTIVE LOGIN GATEWAY (DEPLOYED AT /admin/login)</a:t>
            </a:r>
          </a:p>
          <a:p>
            <a:pPr>
              <a:defRPr sz="800">
                <a:solidFill>
                  <a:srgbClr val="A5B9CD"/>
                </a:solidFill>
                <a:latin typeface="Arial"/>
              </a:defRPr>
            </a:pPr>
            <a:r>
              <a:t>Bank-grade authentication with encrypted session cookies and automated serverless failover.</a:t>
            </a:r>
          </a:p>
        </p:txBody>
      </p:sp>
      <p:sp>
        <p:nvSpPr>
          <p:cNvPr id="10" name="Rounded Rectangle 9"/>
          <p:cNvSpPr/>
          <p:nvPr/>
        </p:nvSpPr>
        <p:spPr>
          <a:xfrm>
            <a:off x="6656832" y="1508760"/>
            <a:ext cx="4800600" cy="4709160"/>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03720" y="1691640"/>
            <a:ext cx="4297680" cy="4343400"/>
          </a:xfrm>
          <a:prstGeom prst="rect">
            <a:avLst/>
          </a:prstGeom>
          <a:noFill/>
        </p:spPr>
        <p:txBody>
          <a:bodyPr wrap="square" lIns="0" tIns="0" bIns="0" rIns="0">
            <a:spAutoFit/>
          </a:bodyPr>
          <a:lstStyle/>
          <a:p>
            <a:pPr>
              <a:defRPr sz="950" b="1">
                <a:solidFill>
                  <a:srgbClr val="C8A064"/>
                </a:solidFill>
                <a:latin typeface="Arial"/>
              </a:defRPr>
            </a:pPr>
            <a:r>
              <a:t>VERIFIED LIVE ACCESS &amp; CREDENTIALS</a:t>
            </a:r>
          </a:p>
          <a:p>
            <a:pPr>
              <a:spcBef>
                <a:spcPts val="1000"/>
              </a:spcBef>
              <a:defRPr sz="1000" b="1">
                <a:solidFill>
                  <a:srgbClr val="FFFFFF"/>
                </a:solidFill>
                <a:latin typeface="Arial"/>
              </a:defRPr>
            </a:pPr>
            <a:r>
              <a:t>Next.js 15.5+ App Router Architecture</a:t>
            </a:r>
          </a:p>
          <a:p>
            <a:pPr>
              <a:spcBef>
                <a:spcPts val="200"/>
              </a:spcBef>
              <a:defRPr sz="850">
                <a:solidFill>
                  <a:srgbClr val="A5B9CD"/>
                </a:solidFill>
                <a:latin typeface="Arial"/>
              </a:defRPr>
            </a:pPr>
            <a:r>
              <a:t>Built on React 19 Server Components with zero legacy JavaScript bloat, guaranteeing instant first-paint performance.</a:t>
            </a:r>
          </a:p>
          <a:p>
            <a:pPr>
              <a:spcBef>
                <a:spcPts val="1000"/>
              </a:spcBef>
              <a:defRPr sz="1000" b="1">
                <a:solidFill>
                  <a:srgbClr val="FFFFFF"/>
                </a:solidFill>
                <a:latin typeface="Arial"/>
              </a:defRPr>
            </a:pPr>
            <a:r>
              <a:t>Vercel Global Edge Network</a:t>
            </a:r>
          </a:p>
          <a:p>
            <a:pPr>
              <a:spcBef>
                <a:spcPts val="200"/>
              </a:spcBef>
              <a:defRPr sz="850">
                <a:solidFill>
                  <a:srgbClr val="A5B9CD"/>
                </a:solidFill>
                <a:latin typeface="Arial"/>
              </a:defRPr>
            </a:pPr>
            <a:r>
              <a:t>Deployed across 300+ edge points-of-presence globally, delivering sub-100ms response times worldwide with automatic DDoS mitigation.</a:t>
            </a:r>
          </a:p>
          <a:p>
            <a:pPr>
              <a:spcBef>
                <a:spcPts val="1000"/>
              </a:spcBef>
              <a:defRPr sz="1000" b="1">
                <a:solidFill>
                  <a:srgbClr val="FFFFFF"/>
                </a:solidFill>
                <a:latin typeface="Arial"/>
              </a:defRPr>
            </a:pPr>
            <a:r>
              <a:t>Distributed LibSQL / SQLite Engine</a:t>
            </a:r>
          </a:p>
          <a:p>
            <a:pPr>
              <a:spcBef>
                <a:spcPts val="200"/>
              </a:spcBef>
              <a:defRPr sz="850">
                <a:solidFill>
                  <a:srgbClr val="A5B9CD"/>
                </a:solidFill>
                <a:latin typeface="Arial"/>
              </a:defRPr>
            </a:pPr>
            <a:r>
              <a:t>ACID compliant transactional storage with automated serverless initialization and encrypted session cookies.</a:t>
            </a:r>
          </a:p>
        </p:txBody>
      </p:sp>
      <p:sp>
        <p:nvSpPr>
          <p:cNvPr id="12" name="Rounded Rectangle 11"/>
          <p:cNvSpPr/>
          <p:nvPr/>
        </p:nvSpPr>
        <p:spPr>
          <a:xfrm>
            <a:off x="6858000" y="2011680"/>
            <a:ext cx="4389120" cy="1371600"/>
          </a:xfrm>
          <a:prstGeom prst="roundRect">
            <a:avLst/>
          </a:prstGeom>
          <a:solidFill>
            <a:srgbClr val="103A62"/>
          </a:solidFill>
          <a:ln w="12700">
            <a:solidFill>
              <a:srgbClr val="00E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95160" y="2103120"/>
            <a:ext cx="4114800" cy="1188720"/>
          </a:xfrm>
          <a:prstGeom prst="rect">
            <a:avLst/>
          </a:prstGeom>
          <a:noFill/>
        </p:spPr>
        <p:txBody>
          <a:bodyPr wrap="square" lIns="0" tIns="0" bIns="0" rIns="0">
            <a:spAutoFit/>
          </a:bodyPr>
          <a:lstStyle/>
          <a:p>
            <a:pPr>
              <a:defRPr sz="800" b="1">
                <a:solidFill>
                  <a:srgbClr val="00E5C0"/>
                </a:solidFill>
                <a:latin typeface="Arial"/>
              </a:defRPr>
            </a:pPr>
            <a:r>
              <a:t>PRODUCTION ENVIRONMENT DIRECTORY</a:t>
            </a:r>
          </a:p>
          <a:p>
            <a:pPr>
              <a:spcBef>
                <a:spcPts val="300"/>
              </a:spcBef>
              <a:defRPr sz="900">
                <a:solidFill>
                  <a:srgbClr val="FFFFFF"/>
                </a:solidFill>
                <a:latin typeface="Courier New"/>
              </a:defRPr>
            </a:pPr>
            <a:r>
              <a:t>Public Flagship: https://goldfields-bay.vercel.app</a:t>
            </a:r>
            <a:br/>
            <a:r>
              <a:t>Studio OS CMS: https://goldfields-bay.vercel.app/admin/login</a:t>
            </a:r>
            <a:br/>
            <a:r>
              <a:t>Login Email: admin@goldfields.com</a:t>
            </a:r>
            <a:br/>
            <a:r>
              <a:t>Temporary Access Key: GoldFields2026!</a:t>
            </a:r>
          </a:p>
        </p:txBody>
      </p:sp>
      <p:sp>
        <p:nvSpPr>
          <p:cNvPr id="14" name="Rectangle 13"/>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16" name="TextBox 15"/>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61D32"/>
        </a:solidFill>
        <a:effectLst/>
      </p:bgPr>
    </p:bg>
    <p:spTree>
      <p:nvGrpSpPr>
        <p:cNvPr id="1" name=""/>
        <p:cNvGrpSpPr/>
        <p:nvPr/>
      </p:nvGrpSpPr>
      <p:grpSpPr/>
      <p:pic>
        <p:nvPicPr>
          <p:cNvPr id="2" name="Picture 1" descr="bastion-logo-white.png"/>
          <p:cNvPicPr>
            <a:picLocks noChangeAspect="1"/>
          </p:cNvPicPr>
          <p:nvPr/>
        </p:nvPicPr>
        <p:blipFill>
          <a:blip r:embed="rId2"/>
          <a:stretch>
            <a:fillRect/>
          </a:stretch>
        </p:blipFill>
        <p:spPr>
          <a:xfrm>
            <a:off x="731520" y="365760"/>
            <a:ext cx="1056315" cy="347472"/>
          </a:xfrm>
          <a:prstGeom prst="rect">
            <a:avLst/>
          </a:prstGeom>
        </p:spPr>
      </p:pic>
      <p:sp>
        <p:nvSpPr>
          <p:cNvPr id="3" name="Rectangle 2"/>
          <p:cNvSpPr/>
          <p:nvPr/>
        </p:nvSpPr>
        <p:spPr>
          <a:xfrm>
            <a:off x="2011680" y="365760"/>
            <a:ext cx="18288" cy="347472"/>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48840" y="365760"/>
            <a:ext cx="4114800" cy="347472"/>
          </a:xfrm>
          <a:prstGeom prst="rect">
            <a:avLst/>
          </a:prstGeom>
          <a:noFill/>
        </p:spPr>
        <p:txBody>
          <a:bodyPr wrap="none" lIns="0" tIns="0" bIns="0" rIns="0">
            <a:spAutoFit/>
          </a:bodyPr>
          <a:lstStyle/>
          <a:p>
            <a:pPr>
              <a:defRPr sz="850" b="1">
                <a:solidFill>
                  <a:srgbClr val="A5B9CD"/>
                </a:solidFill>
                <a:latin typeface="Arial"/>
              </a:defRPr>
            </a:pPr>
            <a:r>
              <a:t>GOLDFIELDS DIGITAL FLAGSHIP • EXECUTIVE PRESENTATION</a:t>
            </a:r>
          </a:p>
        </p:txBody>
      </p:sp>
      <p:sp>
        <p:nvSpPr>
          <p:cNvPr id="5" name="Rounded Rectangle 4"/>
          <p:cNvSpPr/>
          <p:nvPr/>
        </p:nvSpPr>
        <p:spPr>
          <a:xfrm>
            <a:off x="8961120" y="329184"/>
            <a:ext cx="2499055" cy="384048"/>
          </a:xfrm>
          <a:prstGeom prst="roundRect">
            <a:avLst/>
          </a:prstGeom>
          <a:solidFill>
            <a:srgbClr val="0B3052"/>
          </a:solidFill>
          <a:ln w="1270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ctr">
              <a:defRPr sz="850" b="1">
                <a:solidFill>
                  <a:srgbClr val="00E5C0"/>
                </a:solidFill>
                <a:latin typeface="Arial"/>
              </a:defRPr>
            </a:pPr>
            <a:r>
              <a:t>HANDOVER &amp; SIGN-OFF</a:t>
            </a:r>
          </a:p>
        </p:txBody>
      </p:sp>
      <p:sp>
        <p:nvSpPr>
          <p:cNvPr id="6" name="TextBox 5"/>
          <p:cNvSpPr txBox="1"/>
          <p:nvPr/>
        </p:nvSpPr>
        <p:spPr>
          <a:xfrm>
            <a:off x="731520" y="868680"/>
            <a:ext cx="10728655" cy="594360"/>
          </a:xfrm>
          <a:prstGeom prst="rect">
            <a:avLst/>
          </a:prstGeom>
          <a:noFill/>
        </p:spPr>
        <p:txBody>
          <a:bodyPr wrap="none" lIns="0" tIns="0" bIns="0" rIns="0">
            <a:spAutoFit/>
          </a:bodyPr>
          <a:lstStyle/>
          <a:p>
            <a:pPr>
              <a:defRPr sz="2200" b="1">
                <a:solidFill>
                  <a:srgbClr val="FFFFFF"/>
                </a:solidFill>
                <a:latin typeface="Georgia"/>
              </a:defRPr>
            </a:pPr>
            <a:r>
              <a:t>Strategic Horizon: Innovation Roadmap &amp; Platform Handover</a:t>
            </a:r>
          </a:p>
        </p:txBody>
      </p:sp>
      <p:sp>
        <p:nvSpPr>
          <p:cNvPr id="7" name="Rounded Rectangle 6"/>
          <p:cNvSpPr/>
          <p:nvPr/>
        </p:nvSpPr>
        <p:spPr>
          <a:xfrm>
            <a:off x="731520" y="1508760"/>
            <a:ext cx="10728655" cy="2011680"/>
          </a:xfrm>
          <a:prstGeom prst="roundRect">
            <a:avLst/>
          </a:prstGeom>
          <a:solidFill>
            <a:srgbClr val="0B305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10241280" cy="1737360"/>
          </a:xfrm>
          <a:prstGeom prst="rect">
            <a:avLst/>
          </a:prstGeom>
          <a:noFill/>
        </p:spPr>
        <p:txBody>
          <a:bodyPr wrap="square" lIns="0" tIns="0" bIns="0" rIns="0">
            <a:spAutoFit/>
          </a:bodyPr>
          <a:lstStyle/>
          <a:p>
            <a:pPr>
              <a:defRPr sz="950" b="1">
                <a:solidFill>
                  <a:srgbClr val="00E5C0"/>
                </a:solidFill>
                <a:latin typeface="Arial"/>
              </a:defRPr>
            </a:pPr>
            <a:r>
              <a:t>ONGOING INNOVATION: PHASE 2 &amp; 3 STRATEGIC ROADMAP</a:t>
            </a:r>
          </a:p>
        </p:txBody>
      </p:sp>
      <p:sp>
        <p:nvSpPr>
          <p:cNvPr id="9" name="TextBox 8"/>
          <p:cNvSpPr txBox="1"/>
          <p:nvPr/>
        </p:nvSpPr>
        <p:spPr>
          <a:xfrm>
            <a:off x="960120" y="1965960"/>
            <a:ext cx="4937760" cy="1371600"/>
          </a:xfrm>
          <a:prstGeom prst="rect">
            <a:avLst/>
          </a:prstGeom>
          <a:noFill/>
        </p:spPr>
        <p:txBody>
          <a:bodyPr wrap="square" lIns="0" tIns="0" bIns="0" rIns="0">
            <a:spAutoFit/>
          </a:bodyPr>
          <a:lstStyle/>
          <a:p>
            <a:pPr>
              <a:defRPr sz="1050" b="1">
                <a:solidFill>
                  <a:srgbClr val="C8A064"/>
                </a:solidFill>
                <a:latin typeface="Arial"/>
              </a:defRPr>
            </a:pPr>
            <a:r>
              <a:t>PHASE 02: LIVE SCADA &amp; IOT TELEMETRY</a:t>
            </a:r>
          </a:p>
          <a:p>
            <a:pPr>
              <a:spcBef>
                <a:spcPts val="300"/>
              </a:spcBef>
              <a:defRPr sz="850">
                <a:solidFill>
                  <a:srgbClr val="FFFFFF"/>
                </a:solidFill>
                <a:latin typeface="Arial"/>
              </a:defRPr>
            </a:pPr>
            <a:r>
              <a:t>Direct SCADA connection with Khanyisa solar plant and Australian microgrid sensors, streaming live renewable MWh generation and verified carbon offset counters directly to the flagship.</a:t>
            </a:r>
          </a:p>
        </p:txBody>
      </p:sp>
      <p:sp>
        <p:nvSpPr>
          <p:cNvPr id="10" name="TextBox 9"/>
          <p:cNvSpPr txBox="1"/>
          <p:nvPr/>
        </p:nvSpPr>
        <p:spPr>
          <a:xfrm>
            <a:off x="6217920" y="1965960"/>
            <a:ext cx="4937760" cy="1371600"/>
          </a:xfrm>
          <a:prstGeom prst="rect">
            <a:avLst/>
          </a:prstGeom>
          <a:noFill/>
        </p:spPr>
        <p:txBody>
          <a:bodyPr wrap="square" lIns="0" tIns="0" bIns="0" rIns="0">
            <a:spAutoFit/>
          </a:bodyPr>
          <a:lstStyle/>
          <a:p>
            <a:pPr>
              <a:defRPr sz="1050" b="1">
                <a:solidFill>
                  <a:srgbClr val="00E5C0"/>
                </a:solidFill>
                <a:latin typeface="Arial"/>
              </a:defRPr>
            </a:pPr>
            <a:r>
              <a:t>PHASE 03: MULTI-LANGUAGE AI LOCALIZATION</a:t>
            </a:r>
          </a:p>
          <a:p>
            <a:pPr>
              <a:spcBef>
                <a:spcPts val="300"/>
              </a:spcBef>
              <a:defRPr sz="850">
                <a:solidFill>
                  <a:srgbClr val="FFFFFF"/>
                </a:solidFill>
                <a:latin typeface="Arial"/>
              </a:defRPr>
            </a:pPr>
            <a:r>
              <a:t>Automated neural translation into Spanish (for Salares Norte and Cerro Corona stakeholders) and Canadian French, seamlessly managed and approved through Studio OS workflows.</a:t>
            </a:r>
          </a:p>
        </p:txBody>
      </p:sp>
      <p:sp>
        <p:nvSpPr>
          <p:cNvPr id="11" name="Rounded Rectangle 10"/>
          <p:cNvSpPr/>
          <p:nvPr/>
        </p:nvSpPr>
        <p:spPr>
          <a:xfrm>
            <a:off x="731520" y="3703320"/>
            <a:ext cx="10728655" cy="2514600"/>
          </a:xfrm>
          <a:prstGeom prst="roundRect">
            <a:avLst/>
          </a:prstGeom>
          <a:solidFill>
            <a:srgbClr val="0B3052"/>
          </a:solidFill>
          <a:ln w="19050">
            <a:solidFill>
              <a:srgbClr val="C8A0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840480"/>
            <a:ext cx="10241280" cy="548640"/>
          </a:xfrm>
          <a:prstGeom prst="rect">
            <a:avLst/>
          </a:prstGeom>
          <a:noFill/>
        </p:spPr>
        <p:txBody>
          <a:bodyPr wrap="square" lIns="0" tIns="0" bIns="0" rIns="0">
            <a:spAutoFit/>
          </a:bodyPr>
          <a:lstStyle/>
          <a:p>
            <a:pPr>
              <a:defRPr sz="950" b="1">
                <a:solidFill>
                  <a:srgbClr val="C8A064"/>
                </a:solidFill>
                <a:latin typeface="Arial"/>
              </a:defRPr>
            </a:pPr>
            <a:r>
              <a:t>FORMAL PLATFORM ACCEPTANCE &amp; DELIVERY HANDOVER</a:t>
            </a:r>
          </a:p>
          <a:p>
            <a:pPr>
              <a:spcBef>
                <a:spcPts val="200"/>
              </a:spcBef>
              <a:defRPr sz="850">
                <a:solidFill>
                  <a:srgbClr val="A5B9CD"/>
                </a:solidFill>
                <a:latin typeface="Arial"/>
              </a:defRPr>
            </a:pPr>
            <a:r>
              <a:t>By executing this platform handover document, Gold Fields Limited acknowledges the successful engineering and deployment of the Next-Generation Digital Flagship and Studio OS CMS in accordance with the enterprise delivery specifications.</a:t>
            </a:r>
          </a:p>
        </p:txBody>
      </p:sp>
      <p:sp>
        <p:nvSpPr>
          <p:cNvPr id="13" name="Rounded Rectangle 12"/>
          <p:cNvSpPr/>
          <p:nvPr/>
        </p:nvSpPr>
        <p:spPr>
          <a:xfrm>
            <a:off x="960120" y="4434840"/>
            <a:ext cx="4937760" cy="1600200"/>
          </a:xfrm>
          <a:prstGeom prst="roundRect">
            <a:avLst/>
          </a:prstGeom>
          <a:solidFill>
            <a:srgbClr val="103A6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4526280"/>
            <a:ext cx="4572000" cy="1371600"/>
          </a:xfrm>
          <a:prstGeom prst="rect">
            <a:avLst/>
          </a:prstGeom>
          <a:noFill/>
        </p:spPr>
        <p:txBody>
          <a:bodyPr wrap="square" lIns="0" tIns="0" bIns="0" rIns="0">
            <a:spAutoFit/>
          </a:bodyPr>
          <a:lstStyle/>
          <a:p>
            <a:pPr>
              <a:defRPr sz="1100" b="1">
                <a:solidFill>
                  <a:srgbClr val="C8A064"/>
                </a:solidFill>
                <a:latin typeface="Arial"/>
              </a:defRPr>
            </a:pPr>
            <a:r>
              <a:t>BASTIONGROUP</a:t>
            </a:r>
          </a:p>
          <a:p>
            <a:pPr>
              <a:spcBef>
                <a:spcPts val="400"/>
              </a:spcBef>
              <a:defRPr sz="1600" b="1">
                <a:solidFill>
                  <a:srgbClr val="FFFFFF"/>
                </a:solidFill>
                <a:latin typeface="Georgia"/>
              </a:defRPr>
            </a:pPr>
            <a:r>
              <a:t>Benjamin</a:t>
            </a:r>
          </a:p>
        </p:txBody>
      </p:sp>
      <p:sp>
        <p:nvSpPr>
          <p:cNvPr id="15" name="Rectangle 14"/>
          <p:cNvSpPr/>
          <p:nvPr/>
        </p:nvSpPr>
        <p:spPr>
          <a:xfrm>
            <a:off x="1143000" y="5349240"/>
            <a:ext cx="4389120" cy="13716"/>
          </a:xfrm>
          <a:prstGeom prst="rect">
            <a:avLst/>
          </a:prstGeom>
          <a:solidFill>
            <a:srgbClr val="C8A0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5440680"/>
            <a:ext cx="4389120" cy="365760"/>
          </a:xfrm>
          <a:prstGeom prst="rect">
            <a:avLst/>
          </a:prstGeom>
          <a:noFill/>
        </p:spPr>
        <p:txBody>
          <a:bodyPr wrap="none">
            <a:spAutoFit/>
          </a:bodyPr>
          <a:lstStyle/>
          <a:p>
            <a:pPr>
              <a:defRPr sz="850">
                <a:solidFill>
                  <a:srgbClr val="A5B9CD"/>
                </a:solidFill>
                <a:latin typeface="Arial"/>
              </a:defRPr>
            </a:pPr>
            <a:r>
              <a:t>Date: 28 September 2026  •  Digital Signature Verified</a:t>
            </a:r>
          </a:p>
        </p:txBody>
      </p:sp>
      <p:sp>
        <p:nvSpPr>
          <p:cNvPr id="17" name="Rounded Rectangle 16"/>
          <p:cNvSpPr/>
          <p:nvPr/>
        </p:nvSpPr>
        <p:spPr>
          <a:xfrm>
            <a:off x="6217920" y="4434840"/>
            <a:ext cx="4937760" cy="1600200"/>
          </a:xfrm>
          <a:prstGeom prst="roundRect">
            <a:avLst/>
          </a:prstGeom>
          <a:solidFill>
            <a:srgbClr val="103A62"/>
          </a:solidFill>
          <a:ln w="12700">
            <a:solidFill>
              <a:srgbClr val="1A4B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4526280"/>
            <a:ext cx="4572000" cy="1371600"/>
          </a:xfrm>
          <a:prstGeom prst="rect">
            <a:avLst/>
          </a:prstGeom>
          <a:noFill/>
        </p:spPr>
        <p:txBody>
          <a:bodyPr wrap="square" lIns="0" tIns="0" bIns="0" rIns="0">
            <a:spAutoFit/>
          </a:bodyPr>
          <a:lstStyle/>
          <a:p>
            <a:pPr>
              <a:defRPr sz="1100" b="1">
                <a:solidFill>
                  <a:srgbClr val="00E5C0"/>
                </a:solidFill>
                <a:latin typeface="Arial"/>
              </a:defRPr>
            </a:pPr>
            <a:r>
              <a:t>GOLD FIELDS LIMITED</a:t>
            </a:r>
          </a:p>
          <a:p>
            <a:pPr>
              <a:spcBef>
                <a:spcPts val="400"/>
              </a:spcBef>
              <a:defRPr sz="1500" b="1">
                <a:solidFill>
                  <a:srgbClr val="FFFFFF"/>
                </a:solidFill>
                <a:latin typeface="Georgia"/>
              </a:defRPr>
            </a:pPr>
            <a:r>
              <a:t>Executive Committee Representative</a:t>
            </a:r>
          </a:p>
        </p:txBody>
      </p:sp>
      <p:sp>
        <p:nvSpPr>
          <p:cNvPr id="19" name="Rectangle 18"/>
          <p:cNvSpPr/>
          <p:nvPr/>
        </p:nvSpPr>
        <p:spPr>
          <a:xfrm>
            <a:off x="6400800" y="5349240"/>
            <a:ext cx="4389120"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5440680"/>
            <a:ext cx="4389120" cy="365760"/>
          </a:xfrm>
          <a:prstGeom prst="rect">
            <a:avLst/>
          </a:prstGeom>
          <a:noFill/>
        </p:spPr>
        <p:txBody>
          <a:bodyPr wrap="none">
            <a:spAutoFit/>
          </a:bodyPr>
          <a:lstStyle/>
          <a:p>
            <a:pPr>
              <a:defRPr sz="850">
                <a:solidFill>
                  <a:srgbClr val="A5B9CD"/>
                </a:solidFill>
                <a:latin typeface="Arial"/>
              </a:defRPr>
            </a:pPr>
            <a:r>
              <a:t>Date: ________________________  •  Corporate Affairs &amp; IR</a:t>
            </a:r>
          </a:p>
        </p:txBody>
      </p:sp>
      <p:sp>
        <p:nvSpPr>
          <p:cNvPr id="21" name="Rectangle 20"/>
          <p:cNvSpPr/>
          <p:nvPr/>
        </p:nvSpPr>
        <p:spPr>
          <a:xfrm>
            <a:off x="731520" y="6400800"/>
            <a:ext cx="10728655" cy="13716"/>
          </a:xfrm>
          <a:prstGeom prst="rect">
            <a:avLst/>
          </a:prstGeom>
          <a:solidFill>
            <a:srgbClr val="1A4B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6446520"/>
            <a:ext cx="8229600" cy="320040"/>
          </a:xfrm>
          <a:prstGeom prst="rect">
            <a:avLst/>
          </a:prstGeom>
          <a:noFill/>
        </p:spPr>
        <p:txBody>
          <a:bodyPr wrap="none" lIns="0" tIns="0" bIns="0" rIns="0">
            <a:spAutoFit/>
          </a:bodyPr>
          <a:lstStyle/>
          <a:p>
            <a:pPr>
              <a:defRPr sz="900">
                <a:solidFill>
                  <a:srgbClr val="A5B9CD"/>
                </a:solidFill>
                <a:latin typeface="Arial"/>
              </a:defRPr>
            </a:pPr>
            <a:r>
              <a:t>BastionGroup  •  https://bastiongroup.co.za  •  +27 11 778 5800  •  Benjamin</a:t>
            </a:r>
          </a:p>
        </p:txBody>
      </p:sp>
      <p:sp>
        <p:nvSpPr>
          <p:cNvPr id="23" name="TextBox 22"/>
          <p:cNvSpPr txBox="1"/>
          <p:nvPr/>
        </p:nvSpPr>
        <p:spPr>
          <a:xfrm>
            <a:off x="9601200" y="6446520"/>
            <a:ext cx="1858975" cy="320040"/>
          </a:xfrm>
          <a:prstGeom prst="rect">
            <a:avLst/>
          </a:prstGeom>
          <a:noFill/>
        </p:spPr>
        <p:txBody>
          <a:bodyPr wrap="none" lIns="0" tIns="0" bIns="0" rIns="0">
            <a:spAutoFit/>
          </a:bodyPr>
          <a:lstStyle/>
          <a:p>
            <a:pPr algn="r">
              <a:defRPr sz="900" b="1">
                <a:solidFill>
                  <a:srgbClr val="C8A064"/>
                </a:solidFill>
                <a:latin typeface="Arial"/>
              </a:defRPr>
            </a:pPr>
            <a:r>
              <a:t>Slide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