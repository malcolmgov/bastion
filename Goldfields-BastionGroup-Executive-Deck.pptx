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806854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0" y="777240"/>
            <a:ext cx="13716" cy="50292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oldfields-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73152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4389120" cy="347472"/>
          </a:xfrm>
          <a:prstGeom prst="roundRect">
            <a:avLst>
              <a:gd name="adj" fmla="val 31578"/>
            </a:avLst>
          </a:prstGeom>
          <a:solidFill>
            <a:srgbClr val="0B305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CORPORATE COMMUNICATIONS &amp; STAKEHOLDER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8655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Georgia"/>
              </a:defRPr>
            </a:pPr>
            <a:r>
              <a:t>Gold Fields Limited</a:t>
            </a:r>
          </a:p>
          <a:p>
            <a:pPr>
              <a:spcBef>
                <a:spcPts val="800"/>
              </a:spcBef>
              <a:defRPr sz="2200" b="1">
                <a:solidFill>
                  <a:srgbClr val="C8A064"/>
                </a:solidFill>
                <a:latin typeface="Arial"/>
              </a:defRPr>
            </a:pPr>
            <a:r>
              <a:t>Next-Generation Digital Flagship &amp; Studio OS Platform</a:t>
            </a:r>
          </a:p>
          <a:p>
            <a:pPr>
              <a:spcBef>
                <a:spcPts val="1000"/>
              </a:spcBef>
              <a:defRPr sz="1200">
                <a:solidFill>
                  <a:srgbClr val="AABED2"/>
                </a:solidFill>
                <a:latin typeface="Arial"/>
              </a:defRPr>
            </a:pPr>
            <a:r>
              <a:t>Executive Proposal: Engineering Content Autonomy, Live Operational Telemetry, and Next-Generation Stakeholder Experience across Six Global Mining Jurisdictions.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10728655" cy="1645920"/>
          </a:xfrm>
          <a:prstGeom prst="roundRect">
            <a:avLst>
              <a:gd name="adj" fmla="val 8333"/>
            </a:avLst>
          </a:prstGeom>
          <a:solidFill>
            <a:srgbClr val="0B3052"/>
          </a:solidFill>
          <a:ln w="1905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10180015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00E5C0"/>
                </a:solidFill>
                <a:latin typeface="Arial"/>
              </a:defRPr>
            </a:pPr>
            <a:r>
              <a:t>PARTNERSHIP ENGAGEMENT 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2286000" cy="960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PREPARED BY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BastionGroup</a:t>
            </a:r>
          </a:p>
          <a:p>
            <a:pPr>
              <a:spcBef>
                <a:spcPts val="200"/>
              </a:spcBef>
              <a:defRPr sz="850">
                <a:solidFill>
                  <a:srgbClr val="C8A064"/>
                </a:solidFill>
                <a:latin typeface="Arial"/>
              </a:defRPr>
            </a:pPr>
            <a:r>
              <a:t>bastiongroup.co.za  |  +27 11 778 5800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663440"/>
            <a:ext cx="2286000" cy="960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PRESENTED BY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Benjamin</a:t>
            </a:r>
          </a:p>
          <a:p>
            <a:pPr>
              <a:spcBef>
                <a:spcPts val="200"/>
              </a:spcBef>
              <a:defRPr sz="850">
                <a:solidFill>
                  <a:srgbClr val="C8A064"/>
                </a:solidFill>
                <a:latin typeface="Arial"/>
              </a:defRPr>
            </a:pPr>
            <a:r>
              <a:t>BastionGroup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663440"/>
            <a:ext cx="2286000" cy="960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CLIENT RECIPIENT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Gold Fields Limited</a:t>
            </a:r>
          </a:p>
          <a:p>
            <a:pPr>
              <a:spcBef>
                <a:spcPts val="200"/>
              </a:spcBef>
              <a:defRPr sz="850">
                <a:solidFill>
                  <a:srgbClr val="C8A064"/>
                </a:solidFill>
                <a:latin typeface="Arial"/>
              </a:defRPr>
            </a:pPr>
            <a:r>
              <a:t>Executive Committee &amp; Corporate Affairs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663440"/>
            <a:ext cx="2286000" cy="960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DELIVERY &amp; STATUS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September 2026</a:t>
            </a:r>
          </a:p>
          <a:p>
            <a:pPr>
              <a:spcBef>
                <a:spcPts val="200"/>
              </a:spcBef>
              <a:defRPr sz="850">
                <a:solidFill>
                  <a:srgbClr val="C8A064"/>
                </a:solidFill>
                <a:latin typeface="Arial"/>
              </a:defRPr>
            </a:pPr>
            <a:r>
              <a:t>Live Production Verified (goldfields-bay.vercel.app)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STRICTLY CONFIDENTIAL  •  BASTION GROUP EXECUTIVE PRESENTATION  •  GOLDFIELDS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STRATEGIC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Strategic Vision: Real-Time Content Autonomy &amp; Investor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68680"/>
          </a:xfrm>
          <a:prstGeom prst="roundRect">
            <a:avLst>
              <a:gd name="adj" fmla="val 15789"/>
            </a:avLst>
          </a:prstGeom>
          <a:solidFill>
            <a:srgbClr val="0B305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2"/>
            <a:ext cx="102412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00E5C0"/>
                </a:solidFill>
                <a:latin typeface="Arial"/>
              </a:defRPr>
            </a:pPr>
            <a:r>
              <a:t>THE TRANSFORMATION MANDATE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Georgia"/>
              </a:defRPr>
            </a:pPr>
            <a:r>
              <a:t>Gold Fields operates 10 premier assets across 6 sovereign nations. BastionGroup has engineered an enterprise digital flagship that eliminates slow external agency retainers, replacing bottlenecks with instant in-house publishing, live operational telemetry, and bank-grade regulatory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5257800" cy="822960"/>
          </a:xfrm>
          <a:prstGeom prst="roundRect">
            <a:avLst>
              <a:gd name="adj" fmla="val 16666"/>
            </a:avLst>
          </a:prstGeom>
          <a:solidFill>
            <a:srgbClr val="0B305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4919472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0E5C0"/>
                </a:solidFill>
                <a:latin typeface="Arial"/>
              </a:defRPr>
            </a:pPr>
            <a:r>
              <a:t>01. Content Autonomy (&lt; 60s)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Corporate Affairs &amp; IR publish press releases, disclosures, and board bios without developer tickets.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10128"/>
            <a:ext cx="5257800" cy="822960"/>
          </a:xfrm>
          <a:prstGeom prst="roundRect">
            <a:avLst>
              <a:gd name="adj" fmla="val 16666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01568"/>
            <a:ext cx="4919472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C8A064"/>
                </a:solidFill>
                <a:latin typeface="Arial"/>
              </a:defRPr>
            </a:pPr>
            <a:r>
              <a:t>02. Real-Time Telemetry Bar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Live JSE &amp; NYSE share price, AISC cost guidance ($1,385/oz), and 54% renewable energy mix.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42816"/>
            <a:ext cx="5257800" cy="822960"/>
          </a:xfrm>
          <a:prstGeom prst="roundRect">
            <a:avLst>
              <a:gd name="adj" fmla="val 16666"/>
            </a:avLst>
          </a:prstGeom>
          <a:solidFill>
            <a:srgbClr val="0B305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34256"/>
            <a:ext cx="4919472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0E5C0"/>
                </a:solidFill>
                <a:latin typeface="Arial"/>
              </a:defRPr>
            </a:pPr>
            <a:r>
              <a:t>03. Institutional Capital Hub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Interactive H1 2026 earnings booklets, automated SENS/SEC wire, and an AI Knowledge Copilot.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75504"/>
            <a:ext cx="5257800" cy="822960"/>
          </a:xfrm>
          <a:prstGeom prst="roundRect">
            <a:avLst>
              <a:gd name="adj" fmla="val 16666"/>
            </a:avLst>
          </a:prstGeom>
          <a:solidFill>
            <a:srgbClr val="0B3052"/>
          </a:solidFill>
          <a:ln w="12700">
            <a:solidFill>
              <a:srgbClr val="1F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266944"/>
            <a:ext cx="4919472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F6E43"/>
                </a:solidFill>
                <a:latin typeface="Arial"/>
              </a:defRPr>
            </a:pPr>
            <a:r>
              <a:t>04. 2030 ESG Tracking Command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Transparent milestone tracking across decarbonization, 50MW Khanyisa solar, and 100% GISTM tailings safety.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377440"/>
            <a:ext cx="2542032" cy="1188720"/>
          </a:xfrm>
          <a:prstGeom prst="roundRect">
            <a:avLst>
              <a:gd name="adj" fmla="val 11538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46888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0E5C0"/>
                </a:solidFill>
                <a:latin typeface="Georgia"/>
              </a:defRPr>
            </a:pPr>
            <a:r>
              <a:t>&lt; 60s</a:t>
            </a:r>
          </a:p>
          <a:p>
            <a:pPr>
              <a:spcBef>
                <a:spcPts val="100"/>
              </a:spcBef>
              <a:defRPr sz="800" b="1">
                <a:solidFill>
                  <a:srgbClr val="FFFFFF"/>
                </a:solidFill>
                <a:latin typeface="Arial"/>
              </a:defRPr>
            </a:pPr>
            <a:r>
              <a:t>PUBLISHING VELOCITY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In-house release to global edge CDN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377440"/>
            <a:ext cx="2542032" cy="1188720"/>
          </a:xfrm>
          <a:prstGeom prst="roundRect">
            <a:avLst>
              <a:gd name="adj" fmla="val 11538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46888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0E5C0"/>
                </a:solidFill>
                <a:latin typeface="Georgia"/>
              </a:defRPr>
            </a:pPr>
            <a:r>
              <a:t>0.8s</a:t>
            </a:r>
          </a:p>
          <a:p>
            <a:pPr>
              <a:spcBef>
                <a:spcPts val="100"/>
              </a:spcBef>
              <a:defRPr sz="800" b="1">
                <a:solidFill>
                  <a:srgbClr val="FFFFFF"/>
                </a:solidFill>
                <a:latin typeface="Arial"/>
              </a:defRPr>
            </a:pPr>
            <a:r>
              <a:t>GLOBAL PAGE SPEED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Sub-second LCP benchmark across global capital hubs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75888"/>
            <a:ext cx="2542032" cy="1188720"/>
          </a:xfrm>
          <a:prstGeom prst="roundRect">
            <a:avLst>
              <a:gd name="adj" fmla="val 11538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767328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0E5C0"/>
                </a:solidFill>
                <a:latin typeface="Georgia"/>
              </a:defRPr>
            </a:pPr>
            <a:r>
              <a:t>10 Mines</a:t>
            </a:r>
          </a:p>
          <a:p>
            <a:pPr>
              <a:spcBef>
                <a:spcPts val="100"/>
              </a:spcBef>
              <a:defRPr sz="800" b="1">
                <a:solidFill>
                  <a:srgbClr val="FFFFFF"/>
                </a:solidFill>
                <a:latin typeface="Arial"/>
              </a:defRPr>
            </a:pPr>
            <a:r>
              <a:t>GEOSPATIAL ASSETS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Interactive 3D WebGL mapping across 6 nations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675888"/>
            <a:ext cx="2542032" cy="1188720"/>
          </a:xfrm>
          <a:prstGeom prst="roundRect">
            <a:avLst>
              <a:gd name="adj" fmla="val 11538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767328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000" b="1">
                <a:solidFill>
                  <a:srgbClr val="00E5C0"/>
                </a:solidFill>
                <a:latin typeface="Georgia"/>
              </a:defRPr>
            </a:pPr>
            <a:r>
              <a:t>100%</a:t>
            </a:r>
          </a:p>
          <a:p>
            <a:pPr>
              <a:spcBef>
                <a:spcPts val="100"/>
              </a:spcBef>
              <a:defRPr sz="800" b="1">
                <a:solidFill>
                  <a:srgbClr val="FFFFFF"/>
                </a:solidFill>
                <a:latin typeface="Arial"/>
              </a:defRPr>
            </a:pPr>
            <a:r>
              <a:t>REGULATORY READY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SENS / SEC compliance with cryptographic audit 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5010912"/>
            <a:ext cx="5257800" cy="1051560"/>
          </a:xfrm>
          <a:prstGeom prst="roundRect">
            <a:avLst>
              <a:gd name="adj" fmla="val 13043"/>
            </a:avLst>
          </a:prstGeom>
          <a:solidFill>
            <a:srgbClr val="103A6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5084064"/>
            <a:ext cx="4892040" cy="8686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50" b="1">
                <a:solidFill>
                  <a:srgbClr val="C8A064"/>
                </a:solidFill>
                <a:latin typeface="Arial"/>
              </a:defRPr>
            </a:pPr>
            <a:r>
              <a:t>BASTIONGROUP EXECUTIVE COMMITMENT</a:t>
            </a:r>
          </a:p>
          <a:p>
            <a:pPr>
              <a:spcBef>
                <a:spcPts val="2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As South Africa's trusted corporate communications and reporting partner, BastionGroup provides Gold Fields with an ongoing extension to your team — uniting JSE/NYSE reporting rigour with bleeding-edge digital engineering.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BENCHMARK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Comparative Advantage: Legacy Constraints vs. Modernized Flagship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00E5C0"/>
                </a:solidFill>
                <a:latin typeface="Arial"/>
              </a:defRPr>
            </a:pPr>
            <a:r>
              <a:t>Content Publishing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4475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3 to 5 business days via external web agency; high billable retainers and communications friction.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49440" y="1591056"/>
            <a:ext cx="201168" cy="146304"/>
          </a:xfrm>
          <a:prstGeom prst="rightArrow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44475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&lt; 60 seconds instantaneous publish directly by Corporate Affairs &amp; IR via Studio OS without writing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4884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5856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00E5C0"/>
                </a:solidFill>
                <a:latin typeface="Arial"/>
              </a:defRPr>
            </a:pPr>
            <a:r>
              <a:t>Performance &amp; Global LCP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2199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4.8s page load speed; monolithic server hosting with frequent crashes during quarterly earnings traffic surges.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49440" y="2368296"/>
            <a:ext cx="201168" cy="146304"/>
          </a:xfrm>
          <a:prstGeom prst="rightArrow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222199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0.8s sub-second response on serverless edge nodes across Johannesburg, London, New York, Perth and Santiago.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3580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C8A064"/>
                </a:solidFill>
                <a:latin typeface="Arial"/>
              </a:defRPr>
            </a:pPr>
            <a:r>
              <a:t>Asset &amp; Mine 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99923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Static 2D image maps and PDF downloads with outdated, disconnected annual disclosures.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49440" y="3145536"/>
            <a:ext cx="201168" cy="146304"/>
          </a:xfrm>
          <a:prstGeom prst="rightArrow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99923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Interactive 3D WebGL Earth Globe with spatial pins, orbital controls, and live mine telemetry drawers.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1304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1F6E43"/>
                </a:solidFill>
                <a:latin typeface="Arial"/>
              </a:defRPr>
            </a:pPr>
            <a:r>
              <a:t>2030 ESG Disclosures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7647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Buried within dense 200-page sustainability PDF documents; difficult for rating agencies to verify.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949440" y="3922776"/>
            <a:ext cx="201168" cy="146304"/>
          </a:xfrm>
          <a:prstGeom prst="rightArrow">
            <a:avLst/>
          </a:prstGeom>
          <a:solidFill>
            <a:srgbClr val="1F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77647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Real-time 2030 ESG Command Center tracking Decarbonization, Khanyisa Solar, and GISTM tailings safety.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8056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9028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00E5C0"/>
                </a:solidFill>
                <a:latin typeface="Arial"/>
              </a:defRPr>
            </a:pPr>
            <a:r>
              <a:t>Stakeholder Search &amp; Q&amp;A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55371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Basic keyword search returning hundreds of unranked links and static PDF attachments.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949440" y="4700016"/>
            <a:ext cx="201168" cy="146304"/>
          </a:xfrm>
          <a:prstGeom prst="rightArrow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455371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Conversational AI Knowledge Copilot providing instant factual answers with page-level source citations.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257800"/>
            <a:ext cx="10728655" cy="658368"/>
          </a:xfrm>
          <a:prstGeom prst="roundRect">
            <a:avLst>
              <a:gd name="adj" fmla="val 20833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367528"/>
            <a:ext cx="219456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50" b="1">
                <a:solidFill>
                  <a:srgbClr val="C8A064"/>
                </a:solidFill>
                <a:latin typeface="Arial"/>
              </a:defRPr>
            </a:pPr>
            <a:r>
              <a:t>Mobile &amp; Social Distribution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330952"/>
            <a:ext cx="36576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E66464"/>
                </a:solidFill>
                <a:latin typeface="Arial"/>
              </a:defRPr>
            </a:pPr>
            <a:r>
              <a:t>LEGACY OUTSOURCED WEB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Desktop-first layouts; unformatted URLs on WhatsApp and LinkedIn without rich preview cards.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949440" y="5477256"/>
            <a:ext cx="201168" cy="146304"/>
          </a:xfrm>
          <a:prstGeom prst="rightArrow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5330952"/>
            <a:ext cx="3977639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BASTIONGROUP DIGITAL FLAGSHIP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100% fluid mobile responsiveness with automated 1200x630px branded Open Graph sharing cards.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FLAGSHIP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Public Flagship Experience: Cinematic Brand &amp; Live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</a:t>
            </a:r>
          </a:p>
        </p:txBody>
      </p:sp>
      <p:pic>
        <p:nvPicPr>
          <p:cNvPr id="13" name="Picture 12" descr="media_17905762828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93" y="1755648"/>
            <a:ext cx="4573854" cy="2907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LIVE PRODUCTION HERO: 'beyond mining.' WITH REAL-TIME TELEMETRY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Showcasing autonomous mining haulage, Khanyisa solar generation, and interactive AI search prompt.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FLAGSHIP CAPABILITIES BREAKDOWN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Cinematic Executive Typography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Pairs the prestigious Playfair Display serif with Plus Jakarta Sans and high-contrast electric turquoise italic styling ('beyond mining.') reflecting modern industrial technology.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Real-Time Telemetry Bar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Dynamic global ticker displaying JSE &amp; NYSE share price, AISC ($1,385/oz cost profile), 54% renewable energy mix, and 2.30Moz annual gold production index.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One-Touch Stakeholder Routing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Primary navigation pathways engineered specifically for Institutional Investors, ESG Rating Agencies, Commercial Partners, and Local Mining Communities.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Instant AI Query Trigger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Built directly into the flagship header, enabling stakeholders to execute complex natural language research across annual filings with zero friction.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AI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AI Knowledge Copilot: Verified Natural Language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00E5C0"/>
                </a:solidFill>
                <a:latin typeface="Arial"/>
              </a:defRPr>
            </a:pPr>
            <a:r>
              <a:t>INSTITUTIONAL AI ARCHITECTURE</a:t>
            </a:r>
          </a:p>
          <a:p>
            <a:pPr>
              <a:spcBef>
                <a:spcPts val="800"/>
              </a:spcBef>
              <a:defRPr sz="1000" b="1">
                <a:solidFill>
                  <a:srgbClr val="C8A064"/>
                </a:solidFill>
                <a:latin typeface="Arial"/>
              </a:defRPr>
            </a:pPr>
            <a:r>
              <a:t>Direct Grounding in Primary Filings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The Copilot does not hallucinate. It is grounded in Gold Fields' Integrated Annual Report, Climate Change Disclosures, and H1 2026 Earnings Booklets.</a:t>
            </a:r>
          </a:p>
          <a:p>
            <a:pPr>
              <a:spcBef>
                <a:spcPts val="800"/>
              </a:spcBef>
              <a:defRPr sz="1000" b="1">
                <a:solidFill>
                  <a:srgbClr val="C8A064"/>
                </a:solidFill>
                <a:latin typeface="Arial"/>
              </a:defRPr>
            </a:pPr>
            <a:r>
              <a:t>Page-Level Verified Citations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Every response provides direct page number citations with clickable links to the original PDF documents for absolute analyst verification.</a:t>
            </a:r>
          </a:p>
          <a:p>
            <a:pPr>
              <a:spcBef>
                <a:spcPts val="800"/>
              </a:spcBef>
              <a:defRPr sz="1000" b="1">
                <a:solidFill>
                  <a:srgbClr val="C8A064"/>
                </a:solidFill>
                <a:latin typeface="Arial"/>
              </a:defRPr>
            </a:pPr>
            <a:r>
              <a:t>Multi-Jurisdiction Synthesis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Instantly correlates complex technical metrics across South Africa, Ghana, Australia, Chile, Peru, and Canada in seconds.</a:t>
            </a:r>
          </a:p>
          <a:p>
            <a:pPr>
              <a:spcBef>
                <a:spcPts val="800"/>
              </a:spcBef>
              <a:defRPr sz="1000" b="1">
                <a:solidFill>
                  <a:srgbClr val="C8A064"/>
                </a:solidFill>
                <a:latin typeface="Arial"/>
              </a:defRPr>
            </a:pPr>
            <a:r>
              <a:t>24/7 Capital Markets Readiness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Provides institutional fund managers in New York, London, and Johannesburg with immediate answers during after-hours market inquiries.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905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REAL COPILOT INTERACTION: LIVE VERIFIED RESPONSE</a:t>
            </a:r>
          </a:p>
        </p:txBody>
      </p:sp>
      <p:pic>
        <p:nvPicPr>
          <p:cNvPr id="11" name="Picture 10" descr="chat_crop_q_and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38528"/>
            <a:ext cx="2600130" cy="38221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98280" y="1938528"/>
            <a:ext cx="2176272" cy="877824"/>
          </a:xfrm>
          <a:prstGeom prst="roundRect">
            <a:avLst>
              <a:gd name="adj" fmla="val 10416"/>
            </a:avLst>
          </a:prstGeom>
          <a:solidFill>
            <a:srgbClr val="103A6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2011680"/>
            <a:ext cx="1938528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DETERMINISTIC LLM GROUNDING</a:t>
            </a:r>
          </a:p>
          <a:p>
            <a:pPr>
              <a:spcBef>
                <a:spcPts val="100"/>
              </a:spcBef>
              <a:defRPr sz="700">
                <a:solidFill>
                  <a:srgbClr val="AABED2"/>
                </a:solidFill>
                <a:latin typeface="Arial"/>
              </a:defRPr>
            </a:pPr>
            <a:r>
              <a:t>Constrained strictly to audited annual reports; zero generative drift or hallucination.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889504"/>
            <a:ext cx="2176272" cy="877824"/>
          </a:xfrm>
          <a:prstGeom prst="roundRect">
            <a:avLst>
              <a:gd name="adj" fmla="val 10416"/>
            </a:avLst>
          </a:prstGeom>
          <a:solidFill>
            <a:srgbClr val="103A6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2" y="2962656"/>
            <a:ext cx="1938528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C8A064"/>
                </a:solidFill>
                <a:latin typeface="Arial"/>
              </a:defRPr>
            </a:pPr>
            <a:r>
              <a:t>PAGE-LEVEL CITATIONS</a:t>
            </a:r>
          </a:p>
          <a:p>
            <a:pPr>
              <a:spcBef>
                <a:spcPts val="100"/>
              </a:spcBef>
              <a:defRPr sz="700">
                <a:solidFill>
                  <a:srgbClr val="AABED2"/>
                </a:solidFill>
                <a:latin typeface="Arial"/>
              </a:defRPr>
            </a:pPr>
            <a:r>
              <a:t>Clickable citations link directly to primary PDF source pages for regulatory verification.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3840480"/>
            <a:ext cx="2176272" cy="877824"/>
          </a:xfrm>
          <a:prstGeom prst="roundRect">
            <a:avLst>
              <a:gd name="adj" fmla="val 10416"/>
            </a:avLst>
          </a:prstGeom>
          <a:solidFill>
            <a:srgbClr val="103A6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3913632"/>
            <a:ext cx="1938528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00E5C0"/>
                </a:solidFill>
                <a:latin typeface="Arial"/>
              </a:defRPr>
            </a:pPr>
            <a:r>
              <a:t>DYNAMIC ACTION DEEP-LINKS</a:t>
            </a:r>
          </a:p>
          <a:p>
            <a:pPr>
              <a:spcBef>
                <a:spcPts val="100"/>
              </a:spcBef>
              <a:defRPr sz="700">
                <a:solidFill>
                  <a:srgbClr val="AABED2"/>
                </a:solidFill>
                <a:latin typeface="Arial"/>
              </a:defRPr>
            </a:pPr>
            <a:r>
              <a:t>One-click routing to the relevant asset profile and live operational telemetry drawer.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4791456"/>
            <a:ext cx="2176272" cy="877824"/>
          </a:xfrm>
          <a:prstGeom prst="roundRect">
            <a:avLst>
              <a:gd name="adj" fmla="val 10416"/>
            </a:avLst>
          </a:prstGeom>
          <a:solidFill>
            <a:srgbClr val="103A6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4864608"/>
            <a:ext cx="1938528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t>ENTERPRISE AUDIT TRAIL</a:t>
            </a:r>
          </a:p>
          <a:p>
            <a:pPr>
              <a:spcBef>
                <a:spcPts val="100"/>
              </a:spcBef>
              <a:defRPr sz="700">
                <a:solidFill>
                  <a:srgbClr val="AABED2"/>
                </a:solidFill>
                <a:latin typeface="Arial"/>
              </a:defRPr>
            </a:pPr>
            <a:r>
              <a:t>Every query, citation, and session token is cryptographically logged for compliance.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3D OPERATIONS GLOBE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Geospatial Operations: Interactive 3D WebGL Real-Earth Globe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goldfields-bay.vercel.app#operations-globe</a:t>
            </a:r>
          </a:p>
        </p:txBody>
      </p:sp>
      <p:pic>
        <p:nvPicPr>
          <p:cNvPr id="13" name="Picture 12" descr="media_17905286939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55648"/>
            <a:ext cx="4928616" cy="2257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REAL EARTH THREE.JS ORBITAL VISUALIZER (SOUTH DEEP PINNED)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Orbital rotation, touch &amp; drag interaction, and telemetry drawer mapping across all 10 mining assets.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PORTFOLIO VISUALIZATION MATRIX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South Africa (South Deep)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World-class bulk mechanized underground operation in Gauteng; powered by the 50MW Khanyisa solar plant with 70+ year reserve life.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Ghana (Tarkwa &amp; Damang)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Cornerstone West African open-pit production hubs delivering steady cash flows and high recovery rates in the Western Region.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Australia (St Ives, Granny Smith, Agnew, Gruyere)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World benchmark in renewable mining; Agnew hybrid microgrid delivers &gt;50% renewable electricity with cutting-edge wind and battery storage.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Chile (Salares Norte)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High-altitude Atacama open-pit operation featuring pioneering environmental stewardship and Chinchilla preservation.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Peru (Cerro Corona)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Copper-gold porphyry operation delivering long-term socio-economic value in the Cajamarca province.</a:t>
            </a:r>
          </a:p>
          <a:p>
            <a:pPr>
              <a:spcBef>
                <a:spcPts val="5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Canada (Windfall Joint Venture)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High-grade underground Canadian development asset expanding Gold Fields' jurisdictional footprint in the Americas.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ESG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2030 ESG Tracking Command: Transparent Sustainability &amp; Decarbonization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F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goldfields-bay.vercel.app#sustainability</a:t>
            </a:r>
          </a:p>
        </p:txBody>
      </p:sp>
      <p:pic>
        <p:nvPicPr>
          <p:cNvPr id="13" name="Picture 12" descr="media_1790571551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55648"/>
            <a:ext cx="4928616" cy="22429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SUSTAINABLE EXTRACTION &amp; ENERGY TRANSITION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Integrating 50MW Khanyisa solar plant, electric haulage trials, and 100% GISTM tailings dam compliance into public stakeholder telemetry.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F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THE 6 STRATEGIC 2030 SUSTAINABILITY TARGETS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01. Decarbonization &amp; Net-Zero 2050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30% absolute Scope 1 &amp; 2 emissions reduction by 2030; net-zero emissions target by 2050 aligned to Paris Agreement.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02. Renewable Power Leadership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50MW Khanyisa solar facility at South Deep; cutting-edge microgrids in Australia pushing renewables to 54% of global mix.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03. Water Stewardship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Achieved 80% recycled and reused water benchmark across all operational processing facilities, protecting local catchments.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04. Tailings Dam Safety (GISTM)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100% compliance with the Global Industry Standard on Tailings Management (GISTM) across all active and inactive storage facilities.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05. Gender Diversity &amp; Inclusion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25% female workforce participation target by 2030 with specialized operational training and executive development.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06. Host Community Value Creation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Over 80% local procurement spend and continuous trust distributions to host community foundations.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CAPITAL MARKETS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Investor Relations Hub: Institutional Disclosures &amp; Regulatory Speed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114800" cy="4572000"/>
          </a:xfrm>
          <a:prstGeom prst="roundRect">
            <a:avLst>
              <a:gd name="adj" fmla="val 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3785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3191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goldfields-bay.vercel.app#investors</a:t>
            </a:r>
          </a:p>
        </p:txBody>
      </p:sp>
      <p:pic>
        <p:nvPicPr>
          <p:cNvPr id="13" name="Picture 12" descr="media_17905622872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90" y="1755648"/>
            <a:ext cx="3376059" cy="2907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3785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OFFICIAL H1 2026 RESULTS PORTAL INTEGRATION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Live telemetry showing 1.06Moz attributable gold production, 151koz South Deep output, and one-click PDF downloads.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3108960" cy="4572000"/>
          </a:xfrm>
          <a:prstGeom prst="roundRect">
            <a:avLst>
              <a:gd name="adj" fmla="val 4411"/>
            </a:avLst>
          </a:prstGeom>
          <a:solidFill>
            <a:srgbClr val="0B305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1554480"/>
            <a:ext cx="2779776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00E5C0"/>
                </a:solidFill>
                <a:latin typeface="Arial"/>
              </a:defRPr>
            </a:pPr>
            <a:r>
              <a:t>01. REGULATORY SENS &amp; SEC WIRE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Automated SENS Syndication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Instant synchronization with Johannesburg Stock Exchange (JSE SENS) regulatory announcements feed.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SEC Form 6-K Broadcast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Automated distribution for NYSE American Depositary Receipt (ADR) filings compliance.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Synchronized Disclosures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Price-sensitive announcements dispatched instantly to registered institutional distribution lists.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371600"/>
            <a:ext cx="3108960" cy="4572000"/>
          </a:xfrm>
          <a:prstGeom prst="roundRect">
            <a:avLst>
              <a:gd name="adj" fmla="val 4411"/>
            </a:avLst>
          </a:prstGeom>
          <a:solidFill>
            <a:srgbClr val="0B3052"/>
          </a:solidFill>
          <a:ln w="12700">
            <a:solidFill>
              <a:srgbClr val="1F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0224" y="1554480"/>
            <a:ext cx="2779776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1F6E43"/>
                </a:solidFill>
                <a:latin typeface="Arial"/>
              </a:defRPr>
            </a:pPr>
            <a:r>
              <a:t>02. SHAREHOLDER VALUE ENGINE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Total Return Calculator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Historical share performance, capital gains, and dividend reinvestment visualizer.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Capital Allocation Tracking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Transparent visibility into growth capex, sustaining capex, and dividend payouts.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Financial Event Calendar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One-click .ics calendar synchronization for AGM, earnings webcasts, and analyst roadshows.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STUDIO OS CMS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Studio OS CMS: Visual Block Builder &amp; In-House Content Autonomy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goldfields-bay.vercel.app/admin/pages/page_home</a:t>
            </a:r>
          </a:p>
        </p:txBody>
      </p:sp>
      <p:pic>
        <p:nvPicPr>
          <p:cNvPr id="13" name="Picture 12" descr="media_17905679029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55648"/>
            <a:ext cx="4928616" cy="28156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STUDIO OS LIVE VISUAL BUILDER: REARRANGE, DUPLICATE &amp; EDIT SECTIONS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Visual block canvas allowing communications teams to manage hero copy, stats, and press releases.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STUDIO OS CAPABILITIES FOR GOLD FIELDS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Drag-and-Drop Modular Canvas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Corporate teams can reorder, insert, or retire modular blocks (Hero, Stat Counters, Video Reels, Executive Quotes) without touching source code.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Pre-Approved Design Guardrails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Brand typography, palette tokens, and layout ratios are hardcoded into components, preventing unauthorized visual drift.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Instant Responsive Viewports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Toggle live simulation across iPhone (375px), iPad (768px), Laptop (1440px), and 4K displays before hitting publish.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Encrypted Draft Previews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Generate secure, shareable draft links with 24-hour expiration tokens for executive committee and legal review before public 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REGULATORY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Editorial Governance: Multi-Tier Approval Workflows &amp;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goldfields-bay.vercel.app/admin/audit</a:t>
            </a:r>
          </a:p>
        </p:txBody>
      </p:sp>
      <p:pic>
        <p:nvPicPr>
          <p:cNvPr id="13" name="Picture 12" descr="governance-audit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57" y="1755648"/>
            <a:ext cx="4473526" cy="2907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IMMUTABLE AUDIT LOG &amp; 4-TIER REGULATORY STAGES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Full cryptographic SHA-256 integrity tracking and market embargo synchronization.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CRYPTOGRAPHIC AUDIT &amp; COMPLIANCE SPECIFICATIONS</a:t>
            </a:r>
          </a:p>
          <a:p>
            <a:pPr>
              <a:spcBef>
                <a:spcPts val="800"/>
              </a:spcBef>
              <a:defRPr sz="1000" b="1">
                <a:solidFill>
                  <a:srgbClr val="00E5C0"/>
                </a:solidFill>
                <a:latin typeface="Arial"/>
              </a:defRPr>
            </a:pPr>
            <a:r>
              <a:t>Immutable SHA-256 Revision History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Every edit, review status change, and publication event is permanently hashed with user identity, IP address, and millisecond timestamp.</a:t>
            </a:r>
          </a:p>
          <a:p>
            <a:pPr>
              <a:spcBef>
                <a:spcPts val="800"/>
              </a:spcBef>
              <a:defRPr sz="1000" b="1">
                <a:solidFill>
                  <a:srgbClr val="00E5C0"/>
                </a:solidFill>
                <a:latin typeface="Arial"/>
              </a:defRPr>
            </a:pPr>
            <a:r>
              <a:t>Instant 3-Second Rollback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In the event of an urgent market correction or regulatory error, any prior page version can be restored globally in under 3 seconds.</a:t>
            </a:r>
          </a:p>
          <a:p>
            <a:pPr>
              <a:spcBef>
                <a:spcPts val="800"/>
              </a:spcBef>
              <a:defRPr sz="1000" b="1">
                <a:solidFill>
                  <a:srgbClr val="00E5C0"/>
                </a:solidFill>
                <a:latin typeface="Arial"/>
              </a:defRPr>
            </a:pPr>
            <a:r>
              <a:t>Market Embargo Synchronization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Content releases can be synchronized to the exact second with JSE market opening (09:00 SAST) or NYSE trading halts.</a:t>
            </a:r>
          </a:p>
          <a:p>
            <a:pPr>
              <a:spcBef>
                <a:spcPts val="800"/>
              </a:spcBef>
              <a:defRPr sz="1000" b="1">
                <a:solidFill>
                  <a:srgbClr val="00E5C0"/>
                </a:solidFill>
                <a:latin typeface="Arial"/>
              </a:defRPr>
            </a:pPr>
            <a:r>
              <a:t>Full JSE / SEC Compliance Export</a:t>
            </a:r>
          </a:p>
          <a:p>
            <a:pPr>
              <a:spcBef>
                <a:spcPts val="1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Generate complete compliance audit packets detailing who authored, reviewed, and approved every sensitive disclosure.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Living Design System: Corporate Tokens &amp; WCAG AAA Accessibility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goldfields-bay.vercel.app/design-tokens</a:t>
            </a:r>
          </a:p>
        </p:txBody>
      </p:sp>
      <p:pic>
        <p:nvPicPr>
          <p:cNvPr id="13" name="Picture 12" descr="design-system-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57" y="1755648"/>
            <a:ext cx="4473526" cy="2907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LIVING DESIGN TOKENS &amp; WCAG AAA ACCESSIBILITY VERIFICATION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Harmonizing corporate color tokens, WCAG AAA contrast compliance, and typography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BRAND IDENTITY &amp; COLOR ARCHITECTURE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Deep Navy (#061D32 / #082B49)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The anchor of Gold Fields' institutional stature. Conveys corporate governance, bedrock stability, and enduring longevity.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Mineral Gold (#B79855 / #C8A064)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Honors 130+ years of precious metal mining heritage while maintaining executive sophistication without garish brass tones.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Horizon Turquoise (#00E5C0)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Represents clean energy transition, decarbonization, and future-forward technology ('beyond mining.').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Forest Green (#1F6E43)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Reflects land rehabilitation, water stewardship, biodiversity protection, and sustainable mining standards.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WCAG 2.1 AAA Accessibility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All text and interactive controls maintain certified contrast ratios exceeding 7:1 for seamless reading by institutional stakeholders worldwide.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SOCIAL &amp; MOBILE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Multi-Channel Distribution: Mobile Architecture &amp; Social Sharing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goldfields-bay.vercel.app/api/og</a:t>
            </a:r>
          </a:p>
        </p:txBody>
      </p:sp>
      <p:pic>
        <p:nvPicPr>
          <p:cNvPr id="13" name="Picture 12" descr="goldfields-og-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55648"/>
            <a:ext cx="4928616" cy="25875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OFFICIAL 1200x630 OPEN GRAPH SOCIAL SHARING CARD (WHATSAPP / LINKEDIN)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Featuring official Gold Fields lion emblem, gold borders, and real-time operational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4754880" cy="4160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MULTI-CHANNEL DISTRIBUTION ADVANTAGES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High-Impact WhatsApp Previews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When executives, journalists, or analysts share Gold Fields releases on WhatsApp, recipients see an elegant 1200x630px branded visual card instead of a plain link.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100% Fluid Mobile Responsiveness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Engineered to perform flawlessly from 360px smartphones through tablets up to 4K executive boardroom displays with zero horizontal scroll.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Complete Favicon &amp; App Icon Suite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Includes multi-resolution PNGs, SVGs, and Apple Touch Icons (180x180) for home-screen bookmarking by executive leadership.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Search Engine Structured Data</a:t>
            </a:r>
          </a:p>
          <a:p>
            <a:pPr>
              <a:spcBef>
                <a:spcPts val="1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Full Schema.org JSON-LD integration ensures Google News, Bloomberg, and Reuters index earnings announcements with rich corporate snippets.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INFRASTRUCTURE &amp;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Infrastructure &amp; Live Access: Serverless Edge &amp; Studio OS Credentials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536192"/>
            <a:ext cx="4928616" cy="219456"/>
          </a:xfrm>
          <a:prstGeom prst="rect">
            <a:avLst/>
          </a:prstGeom>
          <a:solidFill>
            <a:srgbClr val="103A62"/>
          </a:solidFill>
          <a:ln w="9525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09344"/>
            <a:ext cx="73152" cy="73152"/>
          </a:xfrm>
          <a:prstGeom prst="ellipse">
            <a:avLst/>
          </a:prstGeom>
          <a:solidFill>
            <a:srgbClr val="EB5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1609344"/>
            <a:ext cx="73152" cy="73152"/>
          </a:xfrm>
          <a:prstGeom prst="ellipse">
            <a:avLst/>
          </a:prstGeom>
          <a:solidFill>
            <a:srgbClr val="F5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609344"/>
            <a:ext cx="73152" cy="73152"/>
          </a:xfrm>
          <a:prstGeom prst="ellipse">
            <a:avLst/>
          </a:prstGeom>
          <a:solidFill>
            <a:srgbClr val="2D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554480"/>
            <a:ext cx="4334256" cy="18288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700">
                <a:solidFill>
                  <a:srgbClr val="AABED2"/>
                </a:solidFill>
                <a:latin typeface="Arial"/>
              </a:defRPr>
            </a:pPr>
            <a:r>
              <a:t>🔒  goldfields-bay.vercel.app/admin/login</a:t>
            </a:r>
          </a:p>
        </p:txBody>
      </p:sp>
      <p:pic>
        <p:nvPicPr>
          <p:cNvPr id="13" name="Picture 12" descr="clean_admin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1755648"/>
            <a:ext cx="4361688" cy="2907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736592"/>
            <a:ext cx="4928616" cy="11155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STUDIO OS EXECUTIVE LOGIN GATEWAY (DEPLOYED AT /admin/login)</a:t>
            </a:r>
          </a:p>
          <a:p>
            <a:pPr>
              <a:spcBef>
                <a:spcPts val="2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Bank-grade authentication with 5 one-click RBAC test personas and automated serverless failover.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71600"/>
            <a:ext cx="5257800" cy="4572000"/>
          </a:xfrm>
          <a:prstGeom prst="roundRect">
            <a:avLst>
              <a:gd name="adj" fmla="val 3000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36192"/>
            <a:ext cx="4754880" cy="29260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VERIFIED LIVE ACCESS &amp; CREDENTIALS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874519"/>
            <a:ext cx="4754880" cy="1280160"/>
          </a:xfrm>
          <a:prstGeom prst="roundRect">
            <a:avLst>
              <a:gd name="adj" fmla="val 8571"/>
            </a:avLst>
          </a:prstGeom>
          <a:solidFill>
            <a:srgbClr val="103A6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48056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800" b="1">
                <a:solidFill>
                  <a:srgbClr val="00E5C0"/>
                </a:solidFill>
                <a:latin typeface="Arial"/>
              </a:defRPr>
            </a:pPr>
            <a:r>
              <a:t>PRODUCTION ENVIRONMENT DIRECTORY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Courier New"/>
              </a:defRPr>
            </a:pPr>
            <a:r>
              <a:t>Public Flagship: https://goldfields-bay.vercel.app</a:t>
            </a:r>
            <a:br/>
            <a:r>
              <a:t>Studio OS CMS: https://goldfields-bay.vercel.app/admin/login</a:t>
            </a:r>
            <a:br/>
            <a:r>
              <a:t>Login Email: admin@goldfields.com</a:t>
            </a:r>
            <a:br/>
            <a:r>
              <a:t>Temporary Access Key: GoldFields2026!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91840"/>
            <a:ext cx="4754880" cy="2514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Next.js 15.5+ App Router Architecture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Built on React 19 Server Components with zero legacy JavaScript bloat, guaranteeing instant first-paint performance.</a:t>
            </a:r>
          </a:p>
          <a:p>
            <a:pPr>
              <a:spcBef>
                <a:spcPts val="8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Vercel Global Edge Network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Deployed across 300+ edge points-of-presence globally, delivering sub-100ms response times worldwide with automatic DDoS mitigation.</a:t>
            </a:r>
          </a:p>
          <a:p>
            <a:pPr>
              <a:spcBef>
                <a:spcPts val="8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Distributed LibSQL / SQLite Engine</a:t>
            </a:r>
          </a:p>
          <a:p>
            <a:pPr>
              <a:spcBef>
                <a:spcPts val="100"/>
              </a:spcBef>
              <a:defRPr sz="750">
                <a:solidFill>
                  <a:srgbClr val="AABED2"/>
                </a:solidFill>
                <a:latin typeface="Arial"/>
              </a:defRPr>
            </a:pPr>
            <a:r>
              <a:t>ACID compliant transactional storage with automated serverless initialization and encrypted session cookies.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stion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889528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20240" y="320040"/>
            <a:ext cx="13716" cy="292608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57400" y="320040"/>
            <a:ext cx="4114800" cy="29260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 b="1">
                <a:solidFill>
                  <a:srgbClr val="AABED2"/>
                </a:solidFill>
                <a:latin typeface="Arial"/>
              </a:defRPr>
            </a:pPr>
            <a:r>
              <a:t>GOLDFIELDS DIGITAL FLAGSHIP • EXECUTIVE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92608"/>
            <a:ext cx="2499055" cy="329184"/>
          </a:xfrm>
          <a:prstGeom prst="roundRect">
            <a:avLst>
              <a:gd name="adj" fmla="val 33333"/>
            </a:avLst>
          </a:prstGeom>
          <a:solidFill>
            <a:srgbClr val="0B305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0E5C0"/>
                </a:solidFill>
                <a:latin typeface="Arial"/>
              </a:defRPr>
            </a:pPr>
            <a:r>
              <a:t>HANDOVER &amp; SIGN-OFF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43891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Strategic Horizon: Innovation Roadmap &amp; Platform Handover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011680"/>
          </a:xfrm>
          <a:prstGeom prst="roundRect">
            <a:avLst>
              <a:gd name="adj" fmla="val 6818"/>
            </a:avLst>
          </a:prstGeom>
          <a:solidFill>
            <a:srgbClr val="0B305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102412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00E5C0"/>
                </a:solidFill>
                <a:latin typeface="Arial"/>
              </a:defRPr>
            </a:pPr>
            <a:r>
              <a:t>ONGOING INNOVATION: PHASE 2 &amp; 3 STRATEGIC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847088"/>
            <a:ext cx="4983480" cy="1371600"/>
          </a:xfrm>
          <a:prstGeom prst="roundRect">
            <a:avLst>
              <a:gd name="adj" fmla="val 8000"/>
            </a:avLst>
          </a:prstGeom>
          <a:solidFill>
            <a:srgbClr val="103A62"/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938528"/>
            <a:ext cx="4663440" cy="1188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PHASE 02: LIVE SCADA &amp; IOT TELEMETRY</a:t>
            </a:r>
          </a:p>
          <a:p>
            <a:pPr>
              <a:spcBef>
                <a:spcPts val="2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Direct SCADA connection with Khanyisa solar plant and Australian microgrid sensors, streaming live renewable MWh generation and verified carbon offset counters directly to the flagship.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47088"/>
            <a:ext cx="4983480" cy="1371600"/>
          </a:xfrm>
          <a:prstGeom prst="roundRect">
            <a:avLst>
              <a:gd name="adj" fmla="val 8000"/>
            </a:avLst>
          </a:prstGeom>
          <a:solidFill>
            <a:srgbClr val="103A62"/>
          </a:solidFill>
          <a:ln w="1270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38528"/>
            <a:ext cx="4663440" cy="1188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00E5C0"/>
                </a:solidFill>
                <a:latin typeface="Arial"/>
              </a:defRPr>
            </a:pPr>
            <a:r>
              <a:t>PHASE 03: MULTI-LANGUAGE AI LOCALIZATION</a:t>
            </a:r>
          </a:p>
          <a:p>
            <a:pPr>
              <a:spcBef>
                <a:spcPts val="200"/>
              </a:spcBef>
              <a:defRPr sz="800">
                <a:solidFill>
                  <a:srgbClr val="FFFFFF"/>
                </a:solidFill>
                <a:latin typeface="Arial"/>
              </a:defRPr>
            </a:pPr>
            <a:r>
              <a:t>Automated neural translation into Spanish (for Salares Norte and Cerro Corona stakeholders) and Canadian French, seamlessly managed and approved through Studio OS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728655" cy="2423160"/>
          </a:xfrm>
          <a:prstGeom prst="roundRect">
            <a:avLst>
              <a:gd name="adj" fmla="val 5660"/>
            </a:avLst>
          </a:prstGeom>
          <a:solidFill>
            <a:srgbClr val="0B3052"/>
          </a:solidFill>
          <a:ln w="19050">
            <a:solidFill>
              <a:srgbClr val="C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03320"/>
            <a:ext cx="102412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50" b="1">
                <a:solidFill>
                  <a:srgbClr val="C8A064"/>
                </a:solidFill>
                <a:latin typeface="Arial"/>
              </a:defRPr>
            </a:pPr>
            <a:r>
              <a:t>FORMAL PLATFORM ACCEPTANCE &amp; DELIVERY HANDOVER</a:t>
            </a:r>
          </a:p>
          <a:p>
            <a:pPr>
              <a:spcBef>
                <a:spcPts val="200"/>
              </a:spcBef>
              <a:defRPr sz="800">
                <a:solidFill>
                  <a:srgbClr val="AABED2"/>
                </a:solidFill>
                <a:latin typeface="Arial"/>
              </a:defRPr>
            </a:pPr>
            <a:r>
              <a:t>By executing this platform handover document, Gold Fields Limited acknowledges the successful engineering and deployment of the Next-Generation Digital Flagship and Studio OS CMS in accordance with enterprise delivery specifications.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297680"/>
            <a:ext cx="4983480" cy="1508760"/>
          </a:xfrm>
          <a:prstGeom prst="roundRect">
            <a:avLst>
              <a:gd name="adj" fmla="val 7272"/>
            </a:avLst>
          </a:prstGeom>
          <a:solidFill>
            <a:srgbClr val="103A6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89120"/>
            <a:ext cx="4572000" cy="13258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C8A064"/>
                </a:solidFill>
                <a:latin typeface="Arial"/>
              </a:defRPr>
            </a:pPr>
            <a:r>
              <a:t>BASTIONGROUP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Benjamin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5212080"/>
            <a:ext cx="4389120" cy="13716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3035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E5C0"/>
                </a:solidFill>
                <a:latin typeface="Arial"/>
              </a:defRPr>
            </a:pPr>
            <a:r>
              <a:t>Date: 28 September 2026  •  Digital Signature Verified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97680"/>
            <a:ext cx="4983480" cy="1508760"/>
          </a:xfrm>
          <a:prstGeom prst="roundRect">
            <a:avLst>
              <a:gd name="adj" fmla="val 7272"/>
            </a:avLst>
          </a:prstGeom>
          <a:solidFill>
            <a:srgbClr val="103A62"/>
          </a:solidFill>
          <a:ln w="12700">
            <a:solidFill>
              <a:srgbClr val="1A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4572000" cy="13258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0E5C0"/>
                </a:solidFill>
                <a:latin typeface="Arial"/>
              </a:defRPr>
            </a:pPr>
            <a:r>
              <a:t>GOLD FIELDS LIMITED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Executive Committee Representative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212080"/>
            <a:ext cx="4389120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3035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ED2"/>
                </a:solidFill>
                <a:latin typeface="Arial"/>
              </a:defRPr>
            </a:pPr>
            <a:r>
              <a:t>Date: ________________________  •  Corporate Affairs &amp; IR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144768"/>
            <a:ext cx="10728655" cy="13716"/>
          </a:xfrm>
          <a:prstGeom prst="rect">
            <a:avLst/>
          </a:prstGeom>
          <a:solidFill>
            <a:srgbClr val="1A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236208"/>
            <a:ext cx="8229600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AABED2"/>
                </a:solidFill>
                <a:latin typeface="Arial"/>
              </a:defRPr>
            </a:pPr>
            <a:r>
              <a:t>BastionGroup  •  https://bastiongroup.co.za  •  +27 11 778 5800  •  Benjamin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236208"/>
            <a:ext cx="185897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C8A064"/>
                </a:solidFill>
                <a:latin typeface="Arial"/>
              </a:defRPr>
            </a:pPr>
            <a:r>
              <a:t>Slide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